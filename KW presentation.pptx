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handoutMasterIdLst>
    <p:handoutMasterId r:id="rId27"/>
  </p:handoutMasterIdLst>
  <p:sldIdLst>
    <p:sldId id="322" r:id="rId5"/>
    <p:sldId id="321" r:id="rId6"/>
    <p:sldId id="323" r:id="rId7"/>
    <p:sldId id="324" r:id="rId8"/>
    <p:sldId id="329" r:id="rId9"/>
    <p:sldId id="336" r:id="rId10"/>
    <p:sldId id="337" r:id="rId11"/>
    <p:sldId id="338" r:id="rId12"/>
    <p:sldId id="339" r:id="rId13"/>
    <p:sldId id="340" r:id="rId14"/>
    <p:sldId id="341" r:id="rId15"/>
    <p:sldId id="326" r:id="rId16"/>
    <p:sldId id="327" r:id="rId17"/>
    <p:sldId id="325" r:id="rId18"/>
    <p:sldId id="328" r:id="rId19"/>
    <p:sldId id="330" r:id="rId20"/>
    <p:sldId id="331" r:id="rId21"/>
    <p:sldId id="332" r:id="rId22"/>
    <p:sldId id="333" r:id="rId23"/>
    <p:sldId id="334" r:id="rId24"/>
    <p:sldId id="33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61" autoAdjust="0"/>
    <p:restoredTop sz="95388" autoAdjust="0"/>
  </p:normalViewPr>
  <p:slideViewPr>
    <p:cSldViewPr snapToGrid="0">
      <p:cViewPr varScale="1">
        <p:scale>
          <a:sx n="59" d="100"/>
          <a:sy n="59" d="100"/>
        </p:scale>
        <p:origin x="1172" y="52"/>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12/22/2025</a:t>
            </a:fld>
            <a:endParaRPr lang="en-US" dirty="0"/>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12/22/2025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a:t>Click icon to add picture</a:t>
            </a:r>
            <a:endParaRPr lang="en-US" dirty="0"/>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US"/>
              <a:t>Click icon to add table</a:t>
            </a:r>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US"/>
              <a:t>Click icon to add table</a:t>
            </a:r>
            <a:endParaRPr lang="en-US" dirty="0"/>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colab.research.google.com/drive/1hDnhr3j1JbWW57RQhgBQ14H0QHU1mMM8?usp=shar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colab.research.google.com/drive/1On6LeRKLP9OdWhyP0S0J1Yrdyjb8xNwj?authuser=0#scrollTo=LI8JF3i1Dsk1"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kmeng01/memit" TargetMode="External"/><Relationship Id="rId2" Type="http://schemas.openxmlformats.org/officeDocument/2006/relationships/hyperlink" Target="https://github.com/zjunlp/EasyEdit" TargetMode="External"/><Relationship Id="rId1" Type="http://schemas.openxmlformats.org/officeDocument/2006/relationships/slideLayout" Target="../slideLayouts/slideLayout2.xml"/><Relationship Id="rId4" Type="http://schemas.openxmlformats.org/officeDocument/2006/relationships/hyperlink" Target="https://github.com/kmeng01/rom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75E1CF-B991-B925-784A-AC4BFC6FC0EB}"/>
              </a:ext>
            </a:extLst>
          </p:cNvPr>
          <p:cNvSpPr txBox="1"/>
          <p:nvPr/>
        </p:nvSpPr>
        <p:spPr>
          <a:xfrm>
            <a:off x="2299580" y="977774"/>
            <a:ext cx="7767874" cy="3447098"/>
          </a:xfrm>
          <a:prstGeom prst="rect">
            <a:avLst/>
          </a:prstGeom>
          <a:noFill/>
        </p:spPr>
        <p:txBody>
          <a:bodyPr wrap="square" rtlCol="0">
            <a:spAutoFit/>
          </a:bodyPr>
          <a:lstStyle/>
          <a:p>
            <a:pPr algn="ctr"/>
            <a:br>
              <a:rPr lang="en-US" sz="3200" b="1" dirty="0"/>
            </a:br>
            <a:r>
              <a:rPr lang="en-US" sz="5400" b="1" dirty="0"/>
              <a:t>Code Knowledge Editing</a:t>
            </a:r>
            <a:br>
              <a:rPr lang="en-US" sz="3200" b="1" dirty="0"/>
            </a:br>
            <a:endParaRPr lang="en-US" sz="3200" b="1" dirty="0"/>
          </a:p>
          <a:p>
            <a:pPr algn="ctr"/>
            <a:br>
              <a:rPr lang="en-US" sz="3200" b="1" dirty="0"/>
            </a:br>
            <a:r>
              <a:rPr lang="en-US" dirty="0"/>
              <a:t>Updating Language Models with Modern Code Knowledge</a:t>
            </a:r>
            <a:br>
              <a:rPr lang="en-US" dirty="0"/>
            </a:br>
            <a:r>
              <a:rPr lang="en-US" dirty="0"/>
              <a:t>Aviad Oster, Netanel Daniel</a:t>
            </a:r>
            <a:br>
              <a:rPr lang="en-US" sz="3200" dirty="0"/>
            </a:br>
            <a:endParaRPr lang="en-IL" sz="3200"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761-0B88-A5E8-0B78-C39173D05F4D}"/>
              </a:ext>
            </a:extLst>
          </p:cNvPr>
          <p:cNvSpPr>
            <a:spLocks noGrp="1"/>
          </p:cNvSpPr>
          <p:nvPr>
            <p:ph type="title"/>
          </p:nvPr>
        </p:nvSpPr>
        <p:spPr>
          <a:xfrm>
            <a:off x="1455583" y="737115"/>
            <a:ext cx="4640418" cy="5407091"/>
          </a:xfrm>
        </p:spPr>
        <p:txBody>
          <a:bodyPr/>
          <a:lstStyle/>
          <a:p>
            <a:r>
              <a:rPr lang="en-US" dirty="0"/>
              <a:t>Agenda</a:t>
            </a:r>
          </a:p>
        </p:txBody>
      </p:sp>
      <p:sp>
        <p:nvSpPr>
          <p:cNvPr id="3" name="Content Placeholder 2">
            <a:extLst>
              <a:ext uri="{FF2B5EF4-FFF2-40B4-BE49-F238E27FC236}">
                <a16:creationId xmlns:a16="http://schemas.microsoft.com/office/drawing/2014/main" id="{02BA04E6-CD61-B962-4287-DEC1993C32D6}"/>
              </a:ext>
            </a:extLst>
          </p:cNvPr>
          <p:cNvSpPr>
            <a:spLocks noGrp="1"/>
          </p:cNvSpPr>
          <p:nvPr>
            <p:ph sz="quarter" idx="12"/>
          </p:nvPr>
        </p:nvSpPr>
        <p:spPr>
          <a:xfrm>
            <a:off x="5232903" y="737115"/>
            <a:ext cx="5605270" cy="5407091"/>
          </a:xfrm>
        </p:spPr>
        <p:txBody>
          <a:bodyPr/>
          <a:lstStyle/>
          <a:p>
            <a:r>
              <a:rPr lang="en-US" dirty="0"/>
              <a:t>Motivation</a:t>
            </a:r>
          </a:p>
          <a:p>
            <a:r>
              <a:rPr lang="en-US" dirty="0"/>
              <a:t>Project Task Description</a:t>
            </a:r>
          </a:p>
          <a:p>
            <a:r>
              <a:rPr lang="en-US" dirty="0"/>
              <a:t>Building the Data Set</a:t>
            </a:r>
          </a:p>
          <a:p>
            <a:r>
              <a:rPr lang="en-US" dirty="0"/>
              <a:t>Knowledge Editing Overview</a:t>
            </a:r>
          </a:p>
          <a:p>
            <a:r>
              <a:rPr lang="en-US" dirty="0"/>
              <a:t>Available Libraries and Resources</a:t>
            </a:r>
          </a:p>
          <a:p>
            <a:r>
              <a:rPr lang="en-US" dirty="0"/>
              <a:t>Evaluation of Knowledge Editing -</a:t>
            </a:r>
            <a:r>
              <a:rPr lang="en-US" dirty="0" err="1"/>
              <a:t>kpi’s</a:t>
            </a:r>
            <a:endParaRPr lang="en-US" dirty="0"/>
          </a:p>
          <a:p>
            <a:r>
              <a:rPr lang="en-US" dirty="0"/>
              <a:t>Appendix A – Method Example</a:t>
            </a:r>
            <a:r>
              <a:rPr lang="he-IL" dirty="0"/>
              <a:t> </a:t>
            </a:r>
            <a:r>
              <a:rPr lang="en-US" dirty="0"/>
              <a:t>ROME</a:t>
            </a:r>
            <a:endParaRPr lang="he-IL" dirty="0"/>
          </a:p>
          <a:p>
            <a:r>
              <a:rPr lang="en-US" dirty="0"/>
              <a:t>Appendix B - Method Example</a:t>
            </a:r>
            <a:r>
              <a:rPr lang="he-IL" dirty="0"/>
              <a:t> </a:t>
            </a:r>
            <a:r>
              <a:rPr lang="en-US" dirty="0"/>
              <a:t>MALMEN</a:t>
            </a:r>
          </a:p>
        </p:txBody>
      </p:sp>
      <p:sp>
        <p:nvSpPr>
          <p:cNvPr id="4" name="Slide Number Placeholder 3">
            <a:extLst>
              <a:ext uri="{FF2B5EF4-FFF2-40B4-BE49-F238E27FC236}">
                <a16:creationId xmlns:a16="http://schemas.microsoft.com/office/drawing/2014/main" id="{2CD4601E-33F5-5714-867D-A0B584DA7C11}"/>
              </a:ext>
            </a:extLst>
          </p:cNvPr>
          <p:cNvSpPr>
            <a:spLocks noGrp="1"/>
          </p:cNvSpPr>
          <p:nvPr>
            <p:ph type="sldNum" sz="quarter" idx="15"/>
          </p:nvPr>
        </p:nvSpPr>
        <p:spPr/>
        <p:txBody>
          <a:bodyPr/>
          <a:lstStyle/>
          <a:p>
            <a:fld id="{18D65601-5AE2-46FC-B138-694DDD2B510D}" type="slidenum">
              <a:rPr lang="en-US" smtClean="0"/>
              <a:pPr/>
              <a:t>2</a:t>
            </a:fld>
            <a:endParaRPr lang="en-US" dirty="0"/>
          </a:p>
        </p:txBody>
      </p:sp>
    </p:spTree>
    <p:extLst>
      <p:ext uri="{BB962C8B-B14F-4D97-AF65-F5344CB8AC3E}">
        <p14:creationId xmlns:p14="http://schemas.microsoft.com/office/powerpoint/2010/main" val="160745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DEC8F7-31E7-B6E5-94C0-B8843CBA757B}"/>
              </a:ext>
            </a:extLst>
          </p:cNvPr>
          <p:cNvSpPr>
            <a:spLocks noGrp="1"/>
          </p:cNvSpPr>
          <p:nvPr>
            <p:ph type="sldNum" sz="quarter" idx="15"/>
          </p:nvPr>
        </p:nvSpPr>
        <p:spPr/>
        <p:txBody>
          <a:bodyPr/>
          <a:lstStyle/>
          <a:p>
            <a:fld id="{18D65601-5AE2-46FC-B138-694DDD2B510D}" type="slidenum">
              <a:rPr lang="en-US" smtClean="0"/>
              <a:pPr/>
              <a:t>3</a:t>
            </a:fld>
            <a:endParaRPr lang="en-US" dirty="0"/>
          </a:p>
        </p:txBody>
      </p:sp>
      <p:sp>
        <p:nvSpPr>
          <p:cNvPr id="5" name="Content Placeholder 2">
            <a:extLst>
              <a:ext uri="{FF2B5EF4-FFF2-40B4-BE49-F238E27FC236}">
                <a16:creationId xmlns:a16="http://schemas.microsoft.com/office/drawing/2014/main" id="{3759B622-D3A7-D876-E01D-975C81468494}"/>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t>Motivation</a:t>
            </a:r>
          </a:p>
          <a:p>
            <a:pPr marL="0" indent="0">
              <a:buNone/>
            </a:pPr>
            <a:r>
              <a:rPr lang="en-US" sz="1000" dirty="0"/>
              <a:t>Project Task Description</a:t>
            </a:r>
            <a:endParaRPr lang="he-IL" sz="1000" dirty="0"/>
          </a:p>
          <a:p>
            <a:pPr marL="0" indent="0">
              <a:buNone/>
            </a:pPr>
            <a:r>
              <a:rPr lang="en-US" sz="1000" dirty="0"/>
              <a:t>Building the Data Set</a:t>
            </a:r>
          </a:p>
          <a:p>
            <a:pPr marL="0" indent="0">
              <a:buNone/>
            </a:pPr>
            <a:r>
              <a:rPr lang="en-US" sz="1000" dirty="0"/>
              <a:t>Knowledge Editing Overview</a:t>
            </a:r>
          </a:p>
          <a:p>
            <a:pPr marL="0" indent="0">
              <a:buNone/>
            </a:pPr>
            <a:r>
              <a:rPr lang="en-US" sz="1000" dirty="0"/>
              <a:t>Available Libraries and Resources</a:t>
            </a:r>
          </a:p>
          <a:p>
            <a:pPr marL="0" indent="0">
              <a:buNone/>
            </a:pPr>
            <a:r>
              <a:rPr lang="en-US" sz="1000" dirty="0"/>
              <a:t>Evaluation of Knowledge Editing -</a:t>
            </a:r>
            <a:r>
              <a:rPr lang="en-US" sz="1000" dirty="0" err="1"/>
              <a:t>kpi’s</a:t>
            </a:r>
            <a:endParaRPr lang="en-US" sz="1000" dirty="0"/>
          </a:p>
        </p:txBody>
      </p:sp>
      <p:sp>
        <p:nvSpPr>
          <p:cNvPr id="6" name="TextBox 5">
            <a:extLst>
              <a:ext uri="{FF2B5EF4-FFF2-40B4-BE49-F238E27FC236}">
                <a16:creationId xmlns:a16="http://schemas.microsoft.com/office/drawing/2014/main" id="{DD2967CE-C490-FDC3-4964-E3CAEBF633C8}"/>
              </a:ext>
            </a:extLst>
          </p:cNvPr>
          <p:cNvSpPr txBox="1"/>
          <p:nvPr/>
        </p:nvSpPr>
        <p:spPr>
          <a:xfrm>
            <a:off x="2679826" y="181069"/>
            <a:ext cx="7577750" cy="769441"/>
          </a:xfrm>
          <a:prstGeom prst="rect">
            <a:avLst/>
          </a:prstGeom>
          <a:noFill/>
        </p:spPr>
        <p:txBody>
          <a:bodyPr wrap="square" rtlCol="0">
            <a:spAutoFit/>
          </a:bodyPr>
          <a:lstStyle/>
          <a:p>
            <a:pPr algn="ctr"/>
            <a:r>
              <a:rPr lang="en-US" sz="4400" dirty="0"/>
              <a:t>Motivation</a:t>
            </a:r>
            <a:endParaRPr lang="en-IL" sz="4400" dirty="0"/>
          </a:p>
        </p:txBody>
      </p:sp>
      <p:sp>
        <p:nvSpPr>
          <p:cNvPr id="7" name="TextBox 6">
            <a:extLst>
              <a:ext uri="{FF2B5EF4-FFF2-40B4-BE49-F238E27FC236}">
                <a16:creationId xmlns:a16="http://schemas.microsoft.com/office/drawing/2014/main" id="{C7A69E60-CB27-E192-6715-09E8DEA2BB76}"/>
              </a:ext>
            </a:extLst>
          </p:cNvPr>
          <p:cNvSpPr txBox="1"/>
          <p:nvPr/>
        </p:nvSpPr>
        <p:spPr>
          <a:xfrm>
            <a:off x="1919335" y="1339913"/>
            <a:ext cx="9696261" cy="461665"/>
          </a:xfrm>
          <a:prstGeom prst="rect">
            <a:avLst/>
          </a:prstGeom>
          <a:noFill/>
        </p:spPr>
        <p:txBody>
          <a:bodyPr wrap="square" rtlCol="0">
            <a:spAutoFit/>
          </a:bodyPr>
          <a:lstStyle/>
          <a:p>
            <a:r>
              <a:rPr lang="en-US" sz="2400" b="1" dirty="0"/>
              <a:t>The "Stale Model" Problem</a:t>
            </a:r>
            <a:endParaRPr lang="en-IL" dirty="0"/>
          </a:p>
        </p:txBody>
      </p:sp>
      <p:sp>
        <p:nvSpPr>
          <p:cNvPr id="10" name="TextBox 9">
            <a:extLst>
              <a:ext uri="{FF2B5EF4-FFF2-40B4-BE49-F238E27FC236}">
                <a16:creationId xmlns:a16="http://schemas.microsoft.com/office/drawing/2014/main" id="{C9DF1A8B-82C5-A45F-9C31-04C12319A47C}"/>
              </a:ext>
            </a:extLst>
          </p:cNvPr>
          <p:cNvSpPr txBox="1"/>
          <p:nvPr/>
        </p:nvSpPr>
        <p:spPr>
          <a:xfrm>
            <a:off x="2000816" y="1991762"/>
            <a:ext cx="7985156" cy="3354765"/>
          </a:xfrm>
          <a:prstGeom prst="rect">
            <a:avLst/>
          </a:prstGeom>
          <a:noFill/>
        </p:spPr>
        <p:txBody>
          <a:bodyPr wrap="square" rtlCol="0">
            <a:spAutoFit/>
          </a:bodyPr>
          <a:lstStyle/>
          <a:p>
            <a:pPr marL="285750" indent="-285750">
              <a:buFont typeface="Arial" panose="020B0604020202020204" pitchFamily="34" charset="0"/>
              <a:buChar char="•"/>
            </a:pPr>
            <a:r>
              <a:rPr lang="en-US" sz="1600" b="1" dirty="0"/>
              <a:t>Use Case Background:</a:t>
            </a:r>
            <a:r>
              <a:rPr lang="en-US" sz="1600" dirty="0"/>
              <a:t> Language Models are trained on static data, but code libraries (e.g., Pandas, </a:t>
            </a:r>
            <a:r>
              <a:rPr lang="en-US" sz="1600" dirty="0" err="1"/>
              <a:t>PyTorch</a:t>
            </a:r>
            <a:r>
              <a:rPr lang="en-US" sz="1600" dirty="0"/>
              <a:t>) evolve rapidly.</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Why it's Important:</a:t>
            </a:r>
            <a:r>
              <a:rPr lang="en-US" sz="1600" dirty="0"/>
              <a:t> Models generate outdated , unreliable code. This erodes developer trust and creates technical debt.</a:t>
            </a:r>
          </a:p>
          <a:p>
            <a:pPr marL="285750" indent="-285750">
              <a:buFont typeface="Arial" panose="020B0604020202020204" pitchFamily="34" charset="0"/>
              <a:buChar char="•"/>
            </a:pPr>
            <a:br>
              <a:rPr lang="en-US" sz="1600" dirty="0"/>
            </a:br>
            <a:r>
              <a:rPr lang="en-US" sz="1600" b="1" dirty="0"/>
              <a:t>Why it's Challenging:</a:t>
            </a:r>
            <a:r>
              <a:rPr lang="en-US" sz="1600" dirty="0"/>
              <a:t> Retraining foundation models for each library update is prohibitively expensive and time-consuming.</a:t>
            </a:r>
          </a:p>
          <a:p>
            <a:pPr marL="285750" indent="-285750">
              <a:buFont typeface="Arial" panose="020B0604020202020204" pitchFamily="34" charset="0"/>
              <a:buChar char="•"/>
            </a:pPr>
            <a:br>
              <a:rPr lang="en-US" sz="1600" dirty="0"/>
            </a:br>
            <a:r>
              <a:rPr lang="en-US" sz="1600" b="1" dirty="0"/>
              <a:t>How it's Solved Today:</a:t>
            </a:r>
            <a:r>
              <a:rPr lang="en-US" sz="1600" dirty="0"/>
              <a:t> Manual correction by developers or RAG (Retrieval-Augmented Generation), which is a temporary workaround, not a core fix.</a:t>
            </a:r>
          </a:p>
          <a:p>
            <a:br>
              <a:rPr lang="en-US" dirty="0"/>
            </a:br>
            <a:endParaRPr lang="en-IL" dirty="0"/>
          </a:p>
        </p:txBody>
      </p:sp>
    </p:spTree>
    <p:extLst>
      <p:ext uri="{BB962C8B-B14F-4D97-AF65-F5344CB8AC3E}">
        <p14:creationId xmlns:p14="http://schemas.microsoft.com/office/powerpoint/2010/main" val="1134844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A1213-E81D-72EB-EA57-BFC2D457B3B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5C072C-29B9-B02D-481C-C8F9787D3342}"/>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C4D17FCF-7B91-42C9-301A-08E1BF2FD440}"/>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b="1" i="0" u="none" strike="noStrike" kern="1200" cap="none" spc="0" normalizeH="0" baseline="0" noProof="0" dirty="0">
              <a:ln>
                <a:noFill/>
              </a:ln>
              <a:solidFill>
                <a:prstClr val="black"/>
              </a:solidFill>
              <a:effectLst/>
              <a:uLnTx/>
              <a:uFillTx/>
              <a:latin typeface="Univers Light"/>
              <a:ea typeface="+mn-ea"/>
              <a:cs typeface="+mn-cs"/>
            </a:endParaRPr>
          </a:p>
          <a:p>
            <a:pPr marL="0" lvl="0" indent="0">
              <a:buNone/>
            </a:pPr>
            <a:r>
              <a:rPr lang="en-US" sz="1000" dirty="0">
                <a:solidFill>
                  <a:prstClr val="black"/>
                </a:solidFill>
              </a:rPr>
              <a:t>Building the Data Set</a:t>
            </a:r>
            <a:endParaRPr kumimoji="0" lang="en-US" sz="1000" i="0" u="none" strike="noStrike" kern="1200" cap="none" spc="0" normalizeH="0" baseline="0" noProof="0" dirty="0">
              <a:ln>
                <a:noFill/>
              </a:ln>
              <a:solidFill>
                <a:prstClr val="black"/>
              </a:solidFill>
              <a:effectLst/>
              <a:uLnTx/>
              <a:uFillTx/>
              <a:latin typeface="Univers Light"/>
              <a:ea typeface="+mn-ea"/>
              <a:cs typeface="+mn-cs"/>
            </a:endParaRP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Knowledge Editing Overview</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0"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D524EF1A-4D64-BB70-530E-2A45D4830558}"/>
              </a:ext>
            </a:extLst>
          </p:cNvPr>
          <p:cNvSpPr txBox="1"/>
          <p:nvPr/>
        </p:nvSpPr>
        <p:spPr>
          <a:xfrm>
            <a:off x="2679826" y="181069"/>
            <a:ext cx="7577750" cy="769441"/>
          </a:xfrm>
          <a:prstGeom prst="rect">
            <a:avLst/>
          </a:prstGeom>
          <a:noFill/>
        </p:spPr>
        <p:txBody>
          <a:bodyPr wrap="square" rtlCol="0">
            <a:spAutoFit/>
          </a:bodyPr>
          <a:lstStyle/>
          <a:p>
            <a:pPr lvl="0">
              <a:spcAft>
                <a:spcPts val="1200"/>
              </a:spcAft>
              <a:defRPr/>
            </a:pPr>
            <a:r>
              <a:rPr lang="en-US" sz="4400" dirty="0">
                <a:solidFill>
                  <a:prstClr val="black"/>
                </a:solidFill>
              </a:rPr>
              <a:t>Project Task Description</a:t>
            </a:r>
          </a:p>
        </p:txBody>
      </p:sp>
      <p:sp>
        <p:nvSpPr>
          <p:cNvPr id="7" name="TextBox 6">
            <a:extLst>
              <a:ext uri="{FF2B5EF4-FFF2-40B4-BE49-F238E27FC236}">
                <a16:creationId xmlns:a16="http://schemas.microsoft.com/office/drawing/2014/main" id="{A2E8C077-0041-8E4B-0F4D-B2D78C1EFF7D}"/>
              </a:ext>
            </a:extLst>
          </p:cNvPr>
          <p:cNvSpPr txBox="1"/>
          <p:nvPr/>
        </p:nvSpPr>
        <p:spPr>
          <a:xfrm>
            <a:off x="1919335" y="1339913"/>
            <a:ext cx="9696261" cy="461665"/>
          </a:xfrm>
          <a:prstGeom prst="rect">
            <a:avLst/>
          </a:prstGeom>
          <a:noFill/>
        </p:spPr>
        <p:txBody>
          <a:bodyPr wrap="square" rtlCol="0">
            <a:spAutoFit/>
          </a:bodyPr>
          <a:lstStyle/>
          <a:p>
            <a:r>
              <a:rPr lang="en-US" sz="2400" b="1" dirty="0">
                <a:solidFill>
                  <a:prstClr val="black"/>
                </a:solidFill>
                <a:latin typeface="Univers Light"/>
              </a:rPr>
              <a:t>Formal Problem Statement</a:t>
            </a:r>
          </a:p>
        </p:txBody>
      </p:sp>
      <p:sp>
        <p:nvSpPr>
          <p:cNvPr id="10" name="TextBox 9">
            <a:extLst>
              <a:ext uri="{FF2B5EF4-FFF2-40B4-BE49-F238E27FC236}">
                <a16:creationId xmlns:a16="http://schemas.microsoft.com/office/drawing/2014/main" id="{B3DCF5D2-3660-0AC6-7E15-B93ED67E9CA1}"/>
              </a:ext>
            </a:extLst>
          </p:cNvPr>
          <p:cNvSpPr txBox="1"/>
          <p:nvPr/>
        </p:nvSpPr>
        <p:spPr>
          <a:xfrm>
            <a:off x="2000816" y="1991762"/>
            <a:ext cx="7985156" cy="5109091"/>
          </a:xfrm>
          <a:prstGeom prst="rect">
            <a:avLst/>
          </a:prstGeom>
          <a:noFill/>
        </p:spPr>
        <p:txBody>
          <a:bodyPr wrap="square" rtlCol="0">
            <a:spAutoFit/>
          </a:bodyPr>
          <a:lstStyle/>
          <a:p>
            <a:r>
              <a:rPr lang="en-US" sz="1600" b="1" dirty="0"/>
              <a:t>Formal Problem:</a:t>
            </a:r>
            <a:endParaRPr lang="en-US" sz="1600" dirty="0"/>
          </a:p>
          <a:p>
            <a:pPr fontAlgn="base"/>
            <a:r>
              <a:rPr lang="en-US" sz="1600" dirty="0"/>
              <a:t>patterns in a pretrained code-generation model while preserving its stable behavior on all unrelated tasks.</a:t>
            </a:r>
          </a:p>
          <a:p>
            <a:pPr fontAlgn="base"/>
            <a:endParaRPr lang="en-US" sz="1600" dirty="0"/>
          </a:p>
          <a:p>
            <a:pPr fontAlgn="base"/>
            <a:r>
              <a:rPr lang="en-US" sz="1600" b="1" dirty="0"/>
              <a:t>Research Question:</a:t>
            </a:r>
          </a:p>
          <a:p>
            <a:pPr fontAlgn="base"/>
            <a:r>
              <a:rPr lang="en-US" sz="1600" dirty="0"/>
              <a:t>Evaluation of current knowledge editing methods for LLM for the Task of code-knowledge</a:t>
            </a:r>
          </a:p>
          <a:p>
            <a:pPr fontAlgn="base"/>
            <a:endParaRPr lang="he-IL" sz="1600" dirty="0"/>
          </a:p>
          <a:p>
            <a:pPr fontAlgn="base"/>
            <a:r>
              <a:rPr lang="en-US" sz="1600" b="1" dirty="0"/>
              <a:t>Input:</a:t>
            </a:r>
            <a:r>
              <a:rPr lang="en-US" sz="1600" dirty="0"/>
              <a:t>  </a:t>
            </a:r>
          </a:p>
          <a:p>
            <a:pPr fontAlgn="base"/>
            <a:r>
              <a:rPr lang="en-US" sz="1600" dirty="0"/>
              <a:t>Pretrained code model – LLM</a:t>
            </a:r>
          </a:p>
          <a:p>
            <a:pPr fontAlgn="base"/>
            <a:r>
              <a:rPr lang="en-US" sz="1600" dirty="0"/>
              <a:t>Deprecated API - text</a:t>
            </a:r>
          </a:p>
          <a:p>
            <a:pPr fontAlgn="base"/>
            <a:r>
              <a:rPr lang="en-US" sz="1600" dirty="0"/>
              <a:t>Correct API – text</a:t>
            </a:r>
          </a:p>
          <a:p>
            <a:r>
              <a:rPr lang="en-US" sz="1600" b="1" dirty="0"/>
              <a:t>Output:</a:t>
            </a:r>
            <a:r>
              <a:rPr lang="en-US" sz="1600" dirty="0"/>
              <a:t> Edited model</a:t>
            </a:r>
          </a:p>
          <a:p>
            <a:endParaRPr lang="en-US" sz="1600" dirty="0"/>
          </a:p>
          <a:p>
            <a:r>
              <a:rPr lang="en-US" sz="1600" b="1" dirty="0"/>
              <a:t>Evaluation Datasets:</a:t>
            </a:r>
            <a:endParaRPr lang="en-US" sz="1600" dirty="0"/>
          </a:p>
          <a:p>
            <a:pPr marL="285750" indent="-285750" fontAlgn="base">
              <a:buFont typeface="Arial" panose="020B0604020202020204" pitchFamily="34" charset="0"/>
              <a:buChar char="•"/>
            </a:pPr>
            <a:r>
              <a:rPr lang="en-US" sz="1600" b="1" dirty="0"/>
              <a:t>Edit Queries</a:t>
            </a:r>
            <a:r>
              <a:rPr lang="en-US" sz="1600" dirty="0"/>
              <a:t>: verify the model uses the updated knowledge</a:t>
            </a:r>
          </a:p>
          <a:p>
            <a:pPr marL="285750" indent="-285750" fontAlgn="base">
              <a:buFont typeface="Arial" panose="020B0604020202020204" pitchFamily="34" charset="0"/>
              <a:buChar char="•"/>
            </a:pPr>
            <a:r>
              <a:rPr lang="en-US" sz="1600" b="1" dirty="0"/>
              <a:t>Non-Edit Queries:</a:t>
            </a:r>
            <a:r>
              <a:rPr lang="en-US" sz="1600" dirty="0"/>
              <a:t> test locality and preservation of behavior</a:t>
            </a:r>
          </a:p>
          <a:p>
            <a:br>
              <a:rPr lang="en-US" dirty="0"/>
            </a:br>
            <a:br>
              <a:rPr kumimoji="0" lang="en-US" sz="1800" b="0" i="0" u="none" strike="noStrike" kern="1200" cap="none" spc="0" normalizeH="0" baseline="0" noProof="0" dirty="0">
                <a:ln>
                  <a:noFill/>
                </a:ln>
                <a:solidFill>
                  <a:prstClr val="black"/>
                </a:solidFill>
                <a:effectLst/>
                <a:uLnTx/>
                <a:uFillTx/>
                <a:latin typeface="Univers Light"/>
                <a:ea typeface="+mn-ea"/>
                <a:cs typeface="+mn-cs"/>
              </a:rPr>
            </a:br>
            <a:endParaRPr kumimoji="0" lang="en-IL" sz="1800" b="0" i="0" u="none" strike="noStrike" kern="1200" cap="none" spc="0" normalizeH="0" baseline="0" noProof="0" dirty="0">
              <a:ln>
                <a:noFill/>
              </a:ln>
              <a:solidFill>
                <a:prstClr val="black"/>
              </a:solidFill>
              <a:effectLst/>
              <a:uLnTx/>
              <a:uFillTx/>
              <a:latin typeface="Univers Light"/>
              <a:ea typeface="+mn-ea"/>
              <a:cs typeface="+mn-cs"/>
            </a:endParaRPr>
          </a:p>
        </p:txBody>
      </p:sp>
    </p:spTree>
    <p:extLst>
      <p:ext uri="{BB962C8B-B14F-4D97-AF65-F5344CB8AC3E}">
        <p14:creationId xmlns:p14="http://schemas.microsoft.com/office/powerpoint/2010/main" val="112265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42599-9DD0-9473-EF4F-E2FCAC8EFBB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653D3C-8E48-DAC1-00AE-6B0D660411ED}"/>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B629D79F-7131-A9F4-6F72-09693BEDDCC4}"/>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b="0" i="0" u="none" strike="noStrike" kern="1200" cap="none" spc="0" normalizeH="0" baseline="0" noProof="0" dirty="0">
              <a:ln>
                <a:noFill/>
              </a:ln>
              <a:solidFill>
                <a:prstClr val="black"/>
              </a:solidFill>
              <a:effectLst/>
              <a:uLnTx/>
              <a:uFillTx/>
              <a:latin typeface="Univers Light"/>
              <a:ea typeface="+mn-ea"/>
              <a:cs typeface="+mn-cs"/>
            </a:endParaRP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Building the Data Set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Knowledge Editing Overview</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0"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E0AB891C-331A-56DC-BA67-4BA5D7E461D3}"/>
              </a:ext>
            </a:extLst>
          </p:cNvPr>
          <p:cNvSpPr txBox="1"/>
          <p:nvPr/>
        </p:nvSpPr>
        <p:spPr>
          <a:xfrm>
            <a:off x="2679826" y="181069"/>
            <a:ext cx="7577750" cy="769441"/>
          </a:xfrm>
          <a:prstGeom prst="rect">
            <a:avLst/>
          </a:prstGeom>
          <a:noFill/>
        </p:spPr>
        <p:txBody>
          <a:bodyPr wrap="square" rtlCol="0">
            <a:spAutoFit/>
          </a:bodyPr>
          <a:lstStyle/>
          <a:p>
            <a:pPr algn="ctr"/>
            <a:r>
              <a:rPr lang="en-US" sz="4400" dirty="0">
                <a:solidFill>
                  <a:prstClr val="black"/>
                </a:solidFill>
              </a:rPr>
              <a:t>Building the </a:t>
            </a:r>
            <a:r>
              <a:rPr lang="en-US" sz="4400" dirty="0"/>
              <a:t>Datasets</a:t>
            </a:r>
            <a:endParaRPr lang="en-US" sz="4400" dirty="0">
              <a:solidFill>
                <a:prstClr val="black"/>
              </a:solidFill>
            </a:endParaRPr>
          </a:p>
        </p:txBody>
      </p:sp>
      <p:sp>
        <p:nvSpPr>
          <p:cNvPr id="7" name="TextBox 6">
            <a:extLst>
              <a:ext uri="{FF2B5EF4-FFF2-40B4-BE49-F238E27FC236}">
                <a16:creationId xmlns:a16="http://schemas.microsoft.com/office/drawing/2014/main" id="{ED6C382B-3CB8-7EDD-419D-C6E0B8D96D5A}"/>
              </a:ext>
            </a:extLst>
          </p:cNvPr>
          <p:cNvSpPr txBox="1"/>
          <p:nvPr/>
        </p:nvSpPr>
        <p:spPr>
          <a:xfrm>
            <a:off x="1919335" y="1339913"/>
            <a:ext cx="9696261" cy="461665"/>
          </a:xfrm>
          <a:prstGeom prst="rect">
            <a:avLst/>
          </a:prstGeom>
          <a:noFill/>
        </p:spPr>
        <p:txBody>
          <a:bodyPr wrap="square" rtlCol="0">
            <a:spAutoFit/>
          </a:bodyPr>
          <a:lstStyle/>
          <a:p>
            <a:pPr lvl="0">
              <a:spcAft>
                <a:spcPts val="1200"/>
              </a:spcAft>
              <a:defRPr/>
            </a:pPr>
            <a:r>
              <a:rPr lang="en-US" sz="2400" dirty="0">
                <a:solidFill>
                  <a:prstClr val="black"/>
                </a:solidFill>
              </a:rPr>
              <a:t>Building </a:t>
            </a:r>
            <a:r>
              <a:rPr lang="en-US" sz="2400" dirty="0"/>
              <a:t>Evaluation Datasets</a:t>
            </a:r>
            <a:endParaRPr lang="en-US" sz="2400" dirty="0">
              <a:solidFill>
                <a:prstClr val="black"/>
              </a:solidFill>
            </a:endParaRPr>
          </a:p>
        </p:txBody>
      </p:sp>
      <p:sp>
        <p:nvSpPr>
          <p:cNvPr id="10" name="TextBox 9">
            <a:extLst>
              <a:ext uri="{FF2B5EF4-FFF2-40B4-BE49-F238E27FC236}">
                <a16:creationId xmlns:a16="http://schemas.microsoft.com/office/drawing/2014/main" id="{FFA942C1-369F-629D-458A-99800AF5D849}"/>
              </a:ext>
            </a:extLst>
          </p:cNvPr>
          <p:cNvSpPr txBox="1"/>
          <p:nvPr/>
        </p:nvSpPr>
        <p:spPr>
          <a:xfrm>
            <a:off x="2000816" y="1991762"/>
            <a:ext cx="798515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dirty="0">
                <a:ln>
                  <a:noFill/>
                </a:ln>
                <a:solidFill>
                  <a:prstClr val="black"/>
                </a:solidFill>
                <a:effectLst/>
                <a:uLnTx/>
                <a:uFillTx/>
                <a:latin typeface="Univers Light"/>
                <a:ea typeface="+mn-ea"/>
                <a:cs typeface="+mn-cs"/>
              </a:rPr>
            </a:br>
            <a:endParaRPr kumimoji="0" lang="en-IL" sz="18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2" name="TextBox 1">
            <a:extLst>
              <a:ext uri="{FF2B5EF4-FFF2-40B4-BE49-F238E27FC236}">
                <a16:creationId xmlns:a16="http://schemas.microsoft.com/office/drawing/2014/main" id="{A5365342-1B61-E154-AFF0-30DA7853F1CD}"/>
              </a:ext>
            </a:extLst>
          </p:cNvPr>
          <p:cNvSpPr txBox="1"/>
          <p:nvPr/>
        </p:nvSpPr>
        <p:spPr>
          <a:xfrm>
            <a:off x="2000816" y="2055137"/>
            <a:ext cx="8917663" cy="5016758"/>
          </a:xfrm>
          <a:prstGeom prst="rect">
            <a:avLst/>
          </a:prstGeom>
          <a:noFill/>
        </p:spPr>
        <p:txBody>
          <a:bodyPr wrap="square" rtlCol="0">
            <a:spAutoFit/>
          </a:bodyPr>
          <a:lstStyle/>
          <a:p>
            <a:pPr marL="342900" indent="-342900">
              <a:buFont typeface="+mj-lt"/>
              <a:buAutoNum type="arabicPeriod"/>
            </a:pPr>
            <a:r>
              <a:rPr lang="en-US" sz="1600" b="1" dirty="0"/>
              <a:t>Collect Function Sets - </a:t>
            </a:r>
            <a:r>
              <a:rPr lang="en-US" sz="1600" dirty="0"/>
              <a:t>Extracting ~100 changed (deprecations, signature changes, etc.) and ~100 unchanged functions from the release notes of NumPy, Pandas, and </a:t>
            </a:r>
            <a:r>
              <a:rPr lang="en-US" sz="1600" dirty="0" err="1"/>
              <a:t>PyTorch</a:t>
            </a:r>
            <a:r>
              <a:rPr lang="en-US" sz="1600" dirty="0"/>
              <a:t>. Changed functions for the Reliability dataset and unchanged functions for the dataset  locality baseline.</a:t>
            </a:r>
          </a:p>
          <a:p>
            <a:pPr marL="342900" indent="-342900">
              <a:buFont typeface="+mj-lt"/>
              <a:buAutoNum type="arabicPeriod"/>
            </a:pPr>
            <a:r>
              <a:rPr lang="en-US" sz="1600" b="1" dirty="0"/>
              <a:t>Generate Prompts </a:t>
            </a:r>
            <a:r>
              <a:rPr lang="en-US" sz="1600" dirty="0"/>
              <a:t>(using LLM) – looping over a fixed template prompt: "Given the functions {f1, f2, f3}, write a simple task description that requires realistic Python code that use them.”. For each iteration, we randomly sample three functions from our changed/unchanged (separately) sets to generate task-based evaluation prompts </a:t>
            </a:r>
          </a:p>
          <a:p>
            <a:pPr marL="342900" indent="-342900">
              <a:buFont typeface="+mj-lt"/>
              <a:buAutoNum type="arabicPeriod"/>
            </a:pPr>
            <a:r>
              <a:rPr lang="en-US" sz="1600" b="1" dirty="0"/>
              <a:t>Forming the Final Structure – </a:t>
            </a:r>
            <a:r>
              <a:rPr lang="en-US" sz="1600" dirty="0"/>
              <a:t>passing those prompts to the input model (the one before editing) we will create.</a:t>
            </a:r>
            <a:endParaRPr lang="en-US" sz="1600" b="1" dirty="0"/>
          </a:p>
          <a:p>
            <a:pPr marL="742950" lvl="1" indent="-285750">
              <a:buFont typeface="Arial" panose="020B0604020202020204" pitchFamily="34" charset="0"/>
              <a:buChar char="•"/>
            </a:pPr>
            <a:r>
              <a:rPr lang="en-US" sz="1600" b="1" dirty="0"/>
              <a:t>Reliability Dataset:</a:t>
            </a:r>
          </a:p>
          <a:p>
            <a:pPr lvl="1"/>
            <a:r>
              <a:rPr lang="en-US" sz="1100" dirty="0"/>
              <a:t>{	"prompt”: "&lt;task requiring usage of {f1, f2, f3}&gt;",</a:t>
            </a:r>
          </a:p>
          <a:p>
            <a:pPr lvl="1"/>
            <a:r>
              <a:rPr lang="en-US" sz="1100" dirty="0"/>
              <a:t>“old </a:t>
            </a:r>
            <a:r>
              <a:rPr lang="en-US" sz="1100" dirty="0" err="1"/>
              <a:t>api</a:t>
            </a:r>
            <a:r>
              <a:rPr lang="en-US" sz="1100" dirty="0"/>
              <a:t>”: “&lt;{f1, f2, f3}&gt;”,</a:t>
            </a:r>
          </a:p>
          <a:p>
            <a:pPr lvl="1"/>
            <a:r>
              <a:rPr lang="en-US" sz="1100" dirty="0"/>
              <a:t>“new </a:t>
            </a:r>
            <a:r>
              <a:rPr lang="en-US" sz="1100" dirty="0" err="1"/>
              <a:t>api</a:t>
            </a:r>
            <a:r>
              <a:rPr lang="en-US" sz="1100" dirty="0"/>
              <a:t>”: “&lt;{f1*, f2*, f3*}&gt;”,</a:t>
            </a:r>
          </a:p>
          <a:p>
            <a:pPr lvl="1"/>
            <a:r>
              <a:rPr lang="en-US" sz="1100" dirty="0"/>
              <a:t>  “before editing output": "&lt;old usage of the changed functions {f1, f2, f3}&gt;",</a:t>
            </a:r>
          </a:p>
          <a:p>
            <a:pPr lvl="1"/>
            <a:r>
              <a:rPr lang="en-US" sz="1100" dirty="0"/>
              <a:t>}</a:t>
            </a:r>
            <a:endParaRPr lang="en-US" sz="1600" b="1" dirty="0"/>
          </a:p>
          <a:p>
            <a:pPr marL="742950" lvl="1" indent="-285750">
              <a:buFont typeface="Arial" panose="020B0604020202020204" pitchFamily="34" charset="0"/>
              <a:buChar char="•"/>
            </a:pPr>
            <a:r>
              <a:rPr lang="en-US" sz="1600" b="1" dirty="0"/>
              <a:t>Locality Dataset: </a:t>
            </a:r>
          </a:p>
          <a:p>
            <a:pPr lvl="1"/>
            <a:r>
              <a:rPr lang="en-US" sz="1100" dirty="0"/>
              <a:t>{	"prompt: "&lt;task requiring usage of {f1, f2, f3} ",</a:t>
            </a:r>
          </a:p>
          <a:p>
            <a:pPr lvl="1"/>
            <a:r>
              <a:rPr lang="en-US" sz="1100" dirty="0"/>
              <a:t>“old </a:t>
            </a:r>
            <a:r>
              <a:rPr lang="en-US" sz="1100" dirty="0" err="1"/>
              <a:t>api</a:t>
            </a:r>
            <a:r>
              <a:rPr lang="en-US" sz="1100" dirty="0"/>
              <a:t>”: “&lt;{f1, f2, f3}&gt;”,</a:t>
            </a:r>
          </a:p>
          <a:p>
            <a:pPr lvl="1"/>
            <a:r>
              <a:rPr lang="en-US" sz="1100" dirty="0"/>
              <a:t>  “before editing output": "&lt;old usage of the unchanged functions {f1, f2, f3}&gt;",</a:t>
            </a:r>
          </a:p>
          <a:p>
            <a:pPr lvl="1"/>
            <a:r>
              <a:rPr lang="en-US" sz="1100" dirty="0"/>
              <a:t>	}</a:t>
            </a:r>
          </a:p>
          <a:p>
            <a:pPr lvl="1"/>
            <a:endParaRPr lang="en-US" b="1" dirty="0"/>
          </a:p>
        </p:txBody>
      </p:sp>
    </p:spTree>
    <p:extLst>
      <p:ext uri="{BB962C8B-B14F-4D97-AF65-F5344CB8AC3E}">
        <p14:creationId xmlns:p14="http://schemas.microsoft.com/office/powerpoint/2010/main" val="162449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B9245-BB64-BF37-8062-076397A6C0A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2F1B30-56C8-06CB-7F11-FC32CA6385E7}"/>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3F6C90B2-9358-07E0-71CA-430ED4E3C934}"/>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b="0" i="0" u="none" strike="noStrike" kern="1200" cap="none" spc="0" normalizeH="0" baseline="0" noProof="0" dirty="0">
              <a:ln>
                <a:noFill/>
              </a:ln>
              <a:solidFill>
                <a:prstClr val="black"/>
              </a:solidFill>
              <a:effectLst/>
              <a:uLnTx/>
              <a:uFillTx/>
              <a:latin typeface="Univers Light"/>
              <a:ea typeface="+mn-ea"/>
              <a:cs typeface="+mn-cs"/>
            </a:endParaRP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Building the Data Set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Knowledge Editing Overview</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0"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21C15C17-3CE4-DACA-677D-99F851A175DA}"/>
              </a:ext>
            </a:extLst>
          </p:cNvPr>
          <p:cNvSpPr txBox="1"/>
          <p:nvPr/>
        </p:nvSpPr>
        <p:spPr>
          <a:xfrm>
            <a:off x="1381119" y="181069"/>
            <a:ext cx="9764209" cy="1446550"/>
          </a:xfrm>
          <a:prstGeom prst="rect">
            <a:avLst/>
          </a:prstGeom>
          <a:noFill/>
        </p:spPr>
        <p:txBody>
          <a:bodyPr wrap="square" rtlCol="0">
            <a:spAutoFit/>
          </a:bodyPr>
          <a:lstStyle/>
          <a:p>
            <a:pPr algn="ctr"/>
            <a:r>
              <a:rPr lang="en-US" sz="4400" dirty="0">
                <a:solidFill>
                  <a:prstClr val="black"/>
                </a:solidFill>
              </a:rPr>
              <a:t>Building the </a:t>
            </a:r>
            <a:r>
              <a:rPr lang="en-US" sz="4400" dirty="0"/>
              <a:t>Datasets – Function set generation</a:t>
            </a:r>
            <a:endParaRPr lang="en-US" sz="4400" dirty="0">
              <a:solidFill>
                <a:prstClr val="black"/>
              </a:solidFill>
            </a:endParaRPr>
          </a:p>
        </p:txBody>
      </p:sp>
      <p:sp>
        <p:nvSpPr>
          <p:cNvPr id="14" name="TextBox 13">
            <a:extLst>
              <a:ext uri="{FF2B5EF4-FFF2-40B4-BE49-F238E27FC236}">
                <a16:creationId xmlns:a16="http://schemas.microsoft.com/office/drawing/2014/main" id="{498477B7-DE73-FC11-B087-9CC60E84BDBC}"/>
              </a:ext>
            </a:extLst>
          </p:cNvPr>
          <p:cNvSpPr txBox="1"/>
          <p:nvPr/>
        </p:nvSpPr>
        <p:spPr>
          <a:xfrm>
            <a:off x="1046672" y="1522691"/>
            <a:ext cx="6104020" cy="923330"/>
          </a:xfrm>
          <a:prstGeom prst="rect">
            <a:avLst/>
          </a:prstGeom>
          <a:noFill/>
        </p:spPr>
        <p:txBody>
          <a:bodyPr wrap="square">
            <a:spAutoFit/>
          </a:bodyPr>
          <a:lstStyle/>
          <a:p>
            <a:r>
              <a:rPr lang="en-US" dirty="0">
                <a:hlinkClick r:id="rId2"/>
              </a:rPr>
              <a:t>Entire code: </a:t>
            </a:r>
            <a:r>
              <a:rPr lang="he-IL" dirty="0">
                <a:hlinkClick r:id="rId2"/>
              </a:rPr>
              <a:t>https://colab.research.google.com/drive/1hDnhr3j1JbWW57RQhgBQ14H0QHU1mMM8?usp=sharing</a:t>
            </a:r>
            <a:endParaRPr lang="he-IL" dirty="0"/>
          </a:p>
        </p:txBody>
      </p:sp>
      <p:pic>
        <p:nvPicPr>
          <p:cNvPr id="16" name="Picture 15">
            <a:extLst>
              <a:ext uri="{FF2B5EF4-FFF2-40B4-BE49-F238E27FC236}">
                <a16:creationId xmlns:a16="http://schemas.microsoft.com/office/drawing/2014/main" id="{8F331901-BD3F-4072-C960-D3DFFC681BA5}"/>
              </a:ext>
            </a:extLst>
          </p:cNvPr>
          <p:cNvPicPr>
            <a:picLocks noChangeAspect="1"/>
          </p:cNvPicPr>
          <p:nvPr/>
        </p:nvPicPr>
        <p:blipFill>
          <a:blip r:embed="rId3"/>
          <a:stretch>
            <a:fillRect/>
          </a:stretch>
        </p:blipFill>
        <p:spPr>
          <a:xfrm>
            <a:off x="1046672" y="2446021"/>
            <a:ext cx="6595036" cy="4286360"/>
          </a:xfrm>
          <a:prstGeom prst="rect">
            <a:avLst/>
          </a:prstGeom>
        </p:spPr>
      </p:pic>
      <p:sp>
        <p:nvSpPr>
          <p:cNvPr id="2" name="Rectangle 1">
            <a:extLst>
              <a:ext uri="{FF2B5EF4-FFF2-40B4-BE49-F238E27FC236}">
                <a16:creationId xmlns:a16="http://schemas.microsoft.com/office/drawing/2014/main" id="{4DBD5D17-E88B-C8B3-FDAC-36DE6B120D5B}"/>
              </a:ext>
            </a:extLst>
          </p:cNvPr>
          <p:cNvSpPr/>
          <p:nvPr/>
        </p:nvSpPr>
        <p:spPr>
          <a:xfrm>
            <a:off x="8131629" y="1970314"/>
            <a:ext cx="1894114" cy="9233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Release note</a:t>
            </a:r>
            <a:endParaRPr lang="he-IL" dirty="0"/>
          </a:p>
        </p:txBody>
      </p:sp>
      <p:sp>
        <p:nvSpPr>
          <p:cNvPr id="3" name="Rectangle 2">
            <a:extLst>
              <a:ext uri="{FF2B5EF4-FFF2-40B4-BE49-F238E27FC236}">
                <a16:creationId xmlns:a16="http://schemas.microsoft.com/office/drawing/2014/main" id="{6FBFC2D5-6B6D-5F45-A3EC-76CAFECDA68F}"/>
              </a:ext>
            </a:extLst>
          </p:cNvPr>
          <p:cNvSpPr/>
          <p:nvPr/>
        </p:nvSpPr>
        <p:spPr>
          <a:xfrm>
            <a:off x="10363200" y="1970314"/>
            <a:ext cx="1764626" cy="9233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Prompt: extract deprecations…  </a:t>
            </a:r>
            <a:endParaRPr lang="he-IL" dirty="0"/>
          </a:p>
        </p:txBody>
      </p:sp>
      <p:sp>
        <p:nvSpPr>
          <p:cNvPr id="8" name="Arrow: Down 7">
            <a:extLst>
              <a:ext uri="{FF2B5EF4-FFF2-40B4-BE49-F238E27FC236}">
                <a16:creationId xmlns:a16="http://schemas.microsoft.com/office/drawing/2014/main" id="{A2ECCA31-7163-0EC8-3F6B-430616C2D373}"/>
              </a:ext>
            </a:extLst>
          </p:cNvPr>
          <p:cNvSpPr/>
          <p:nvPr/>
        </p:nvSpPr>
        <p:spPr>
          <a:xfrm>
            <a:off x="9916886" y="2993573"/>
            <a:ext cx="598714" cy="5334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Rectangle 8">
            <a:extLst>
              <a:ext uri="{FF2B5EF4-FFF2-40B4-BE49-F238E27FC236}">
                <a16:creationId xmlns:a16="http://schemas.microsoft.com/office/drawing/2014/main" id="{D6BE3603-1B15-C03D-BC35-207D65CC7111}"/>
              </a:ext>
            </a:extLst>
          </p:cNvPr>
          <p:cNvSpPr/>
          <p:nvPr/>
        </p:nvSpPr>
        <p:spPr>
          <a:xfrm>
            <a:off x="9546771" y="3626900"/>
            <a:ext cx="1371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Gemini 2.5 Flash</a:t>
            </a:r>
            <a:endParaRPr lang="he-IL" dirty="0"/>
          </a:p>
        </p:txBody>
      </p:sp>
      <p:sp>
        <p:nvSpPr>
          <p:cNvPr id="10" name="Arrow: Down 9">
            <a:extLst>
              <a:ext uri="{FF2B5EF4-FFF2-40B4-BE49-F238E27FC236}">
                <a16:creationId xmlns:a16="http://schemas.microsoft.com/office/drawing/2014/main" id="{E2755460-B571-4A27-221F-F606D10937A0}"/>
              </a:ext>
            </a:extLst>
          </p:cNvPr>
          <p:cNvSpPr/>
          <p:nvPr/>
        </p:nvSpPr>
        <p:spPr>
          <a:xfrm>
            <a:off x="9916886" y="4259599"/>
            <a:ext cx="598715" cy="5334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Rectangle 10">
            <a:extLst>
              <a:ext uri="{FF2B5EF4-FFF2-40B4-BE49-F238E27FC236}">
                <a16:creationId xmlns:a16="http://schemas.microsoft.com/office/drawing/2014/main" id="{A65F4EAD-025B-69AD-3459-74BBF4A940C8}"/>
              </a:ext>
            </a:extLst>
          </p:cNvPr>
          <p:cNvSpPr/>
          <p:nvPr/>
        </p:nvSpPr>
        <p:spPr>
          <a:xfrm>
            <a:off x="8436429" y="4953000"/>
            <a:ext cx="3450771" cy="17793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Deprecations: </a:t>
            </a:r>
            <a:br>
              <a:rPr lang="en-US" dirty="0"/>
            </a:br>
            <a:r>
              <a:rPr lang="en-US" dirty="0"/>
              <a:t>1. questions: … </a:t>
            </a:r>
            <a:r>
              <a:rPr lang="en-US" dirty="0" err="1"/>
              <a:t>old_approach</a:t>
            </a:r>
            <a:r>
              <a:rPr lang="en-US" dirty="0"/>
              <a:t>: … </a:t>
            </a:r>
            <a:r>
              <a:rPr lang="en-US" dirty="0" err="1"/>
              <a:t>new_approach</a:t>
            </a:r>
            <a:r>
              <a:rPr lang="en-US" dirty="0"/>
              <a:t>: … subject: …</a:t>
            </a:r>
            <a:br>
              <a:rPr lang="en-US" dirty="0"/>
            </a:br>
            <a:r>
              <a:rPr lang="en-US" dirty="0"/>
              <a:t>2. …</a:t>
            </a:r>
            <a:br>
              <a:rPr lang="en-US" dirty="0"/>
            </a:br>
            <a:r>
              <a:rPr lang="en-US" dirty="0"/>
              <a:t>3. …</a:t>
            </a:r>
            <a:endParaRPr lang="he-IL" dirty="0"/>
          </a:p>
        </p:txBody>
      </p:sp>
    </p:spTree>
    <p:extLst>
      <p:ext uri="{BB962C8B-B14F-4D97-AF65-F5344CB8AC3E}">
        <p14:creationId xmlns:p14="http://schemas.microsoft.com/office/powerpoint/2010/main" val="64330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F21BE-8CC3-2B2F-3284-4E6F28BB677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483DBE-7FDC-3E30-E19E-0410DB1257B6}"/>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CC49FBD8-9050-EB8E-2030-9164B569B65F}"/>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b="0" i="0" u="none" strike="noStrike" kern="1200" cap="none" spc="0" normalizeH="0" baseline="0" noProof="0" dirty="0">
              <a:ln>
                <a:noFill/>
              </a:ln>
              <a:solidFill>
                <a:prstClr val="black"/>
              </a:solidFill>
              <a:effectLst/>
              <a:uLnTx/>
              <a:uFillTx/>
              <a:latin typeface="Univers Light"/>
              <a:ea typeface="+mn-ea"/>
              <a:cs typeface="+mn-cs"/>
            </a:endParaRP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Building the Data Set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Knowledge Editing Overview</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0"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2E2AC52A-66FA-B3E1-3C46-D23DF57E4BE2}"/>
              </a:ext>
            </a:extLst>
          </p:cNvPr>
          <p:cNvSpPr txBox="1"/>
          <p:nvPr/>
        </p:nvSpPr>
        <p:spPr>
          <a:xfrm>
            <a:off x="1381119" y="181069"/>
            <a:ext cx="9764209" cy="1446550"/>
          </a:xfrm>
          <a:prstGeom prst="rect">
            <a:avLst/>
          </a:prstGeom>
          <a:noFill/>
        </p:spPr>
        <p:txBody>
          <a:bodyPr wrap="square" rtlCol="0">
            <a:spAutoFit/>
          </a:bodyPr>
          <a:lstStyle/>
          <a:p>
            <a:pPr algn="ctr"/>
            <a:r>
              <a:rPr lang="en-US" sz="4400" dirty="0">
                <a:solidFill>
                  <a:prstClr val="black"/>
                </a:solidFill>
              </a:rPr>
              <a:t>Building the </a:t>
            </a:r>
            <a:r>
              <a:rPr lang="en-US" sz="4400" dirty="0"/>
              <a:t>Datasets – Function set generation</a:t>
            </a:r>
            <a:endParaRPr lang="en-US" sz="4400" dirty="0">
              <a:solidFill>
                <a:prstClr val="black"/>
              </a:solidFill>
            </a:endParaRPr>
          </a:p>
        </p:txBody>
      </p:sp>
      <p:pic>
        <p:nvPicPr>
          <p:cNvPr id="3" name="Picture 2">
            <a:extLst>
              <a:ext uri="{FF2B5EF4-FFF2-40B4-BE49-F238E27FC236}">
                <a16:creationId xmlns:a16="http://schemas.microsoft.com/office/drawing/2014/main" id="{5B62D709-BB06-CDFA-1BB1-3323C2EFBF9A}"/>
              </a:ext>
            </a:extLst>
          </p:cNvPr>
          <p:cNvPicPr>
            <a:picLocks noChangeAspect="1"/>
          </p:cNvPicPr>
          <p:nvPr/>
        </p:nvPicPr>
        <p:blipFill>
          <a:blip r:embed="rId2"/>
          <a:stretch>
            <a:fillRect/>
          </a:stretch>
        </p:blipFill>
        <p:spPr>
          <a:xfrm>
            <a:off x="1046672" y="1532485"/>
            <a:ext cx="7102407" cy="5144446"/>
          </a:xfrm>
          <a:prstGeom prst="rect">
            <a:avLst/>
          </a:prstGeom>
        </p:spPr>
      </p:pic>
      <p:pic>
        <p:nvPicPr>
          <p:cNvPr id="8" name="Picture 7">
            <a:extLst>
              <a:ext uri="{FF2B5EF4-FFF2-40B4-BE49-F238E27FC236}">
                <a16:creationId xmlns:a16="http://schemas.microsoft.com/office/drawing/2014/main" id="{DAAF0727-D2B6-3CF0-951C-55E11012952D}"/>
              </a:ext>
            </a:extLst>
          </p:cNvPr>
          <p:cNvPicPr>
            <a:picLocks noChangeAspect="1"/>
          </p:cNvPicPr>
          <p:nvPr/>
        </p:nvPicPr>
        <p:blipFill>
          <a:blip r:embed="rId3"/>
          <a:srcRect l="5045"/>
          <a:stretch>
            <a:fillRect/>
          </a:stretch>
        </p:blipFill>
        <p:spPr>
          <a:xfrm>
            <a:off x="6391395" y="3165271"/>
            <a:ext cx="5736431" cy="3513155"/>
          </a:xfrm>
          <a:prstGeom prst="rect">
            <a:avLst/>
          </a:prstGeom>
        </p:spPr>
      </p:pic>
    </p:spTree>
    <p:extLst>
      <p:ext uri="{BB962C8B-B14F-4D97-AF65-F5344CB8AC3E}">
        <p14:creationId xmlns:p14="http://schemas.microsoft.com/office/powerpoint/2010/main" val="3811867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06CA1-EAF3-35E6-F3CC-8D2CDFC5F00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86FAAB-1A18-E9B5-97B5-DD73FB248371}"/>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E6DB8B85-A864-00A1-9FB8-821FDAEBC0C7}"/>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b="0" i="0" u="none" strike="noStrike" kern="1200" cap="none" spc="0" normalizeH="0" baseline="0" noProof="0" dirty="0">
              <a:ln>
                <a:noFill/>
              </a:ln>
              <a:solidFill>
                <a:prstClr val="black"/>
              </a:solidFill>
              <a:effectLst/>
              <a:uLnTx/>
              <a:uFillTx/>
              <a:latin typeface="Univers Light"/>
              <a:ea typeface="+mn-ea"/>
              <a:cs typeface="+mn-cs"/>
            </a:endParaRP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Building the Data Set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Knowledge Editing Overview</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0"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4B5D15A8-86CC-7638-AA76-0C142CA761B3}"/>
              </a:ext>
            </a:extLst>
          </p:cNvPr>
          <p:cNvSpPr txBox="1"/>
          <p:nvPr/>
        </p:nvSpPr>
        <p:spPr>
          <a:xfrm>
            <a:off x="1381119" y="181069"/>
            <a:ext cx="9764209" cy="769441"/>
          </a:xfrm>
          <a:prstGeom prst="rect">
            <a:avLst/>
          </a:prstGeom>
          <a:noFill/>
        </p:spPr>
        <p:txBody>
          <a:bodyPr wrap="square" rtlCol="0">
            <a:spAutoFit/>
          </a:bodyPr>
          <a:lstStyle/>
          <a:p>
            <a:pPr algn="ctr"/>
            <a:r>
              <a:rPr lang="en-US" sz="4400" dirty="0">
                <a:solidFill>
                  <a:prstClr val="black"/>
                </a:solidFill>
              </a:rPr>
              <a:t>Building the </a:t>
            </a:r>
            <a:r>
              <a:rPr lang="en-US" sz="4400" dirty="0"/>
              <a:t>Datasets – Examples</a:t>
            </a:r>
            <a:endParaRPr lang="en-US" sz="4400" dirty="0">
              <a:solidFill>
                <a:prstClr val="black"/>
              </a:solidFill>
            </a:endParaRPr>
          </a:p>
        </p:txBody>
      </p:sp>
      <p:pic>
        <p:nvPicPr>
          <p:cNvPr id="7" name="Picture 6">
            <a:extLst>
              <a:ext uri="{FF2B5EF4-FFF2-40B4-BE49-F238E27FC236}">
                <a16:creationId xmlns:a16="http://schemas.microsoft.com/office/drawing/2014/main" id="{4BDB73AE-7FDB-143D-F724-3057A0C7F4E2}"/>
              </a:ext>
            </a:extLst>
          </p:cNvPr>
          <p:cNvPicPr>
            <a:picLocks noChangeAspect="1"/>
          </p:cNvPicPr>
          <p:nvPr/>
        </p:nvPicPr>
        <p:blipFill>
          <a:blip r:embed="rId2"/>
          <a:stretch>
            <a:fillRect/>
          </a:stretch>
        </p:blipFill>
        <p:spPr>
          <a:xfrm>
            <a:off x="1026689" y="1613103"/>
            <a:ext cx="11101137" cy="4223180"/>
          </a:xfrm>
          <a:prstGeom prst="rect">
            <a:avLst/>
          </a:prstGeom>
        </p:spPr>
      </p:pic>
    </p:spTree>
    <p:extLst>
      <p:ext uri="{BB962C8B-B14F-4D97-AF65-F5344CB8AC3E}">
        <p14:creationId xmlns:p14="http://schemas.microsoft.com/office/powerpoint/2010/main" val="2813430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FA923-73C0-DE43-1FD7-4FCFBCA16B1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1685CF0-3F8F-4203-B7DF-55F49EBC1E2C}"/>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F0C3DCB9-CE95-5A45-B97A-FC074F26D12B}"/>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b="0" i="0" u="none" strike="noStrike" kern="1200" cap="none" spc="0" normalizeH="0" baseline="0" noProof="0" dirty="0">
              <a:ln>
                <a:noFill/>
              </a:ln>
              <a:solidFill>
                <a:prstClr val="black"/>
              </a:solidFill>
              <a:effectLst/>
              <a:uLnTx/>
              <a:uFillTx/>
              <a:latin typeface="Univers Light"/>
              <a:ea typeface="+mn-ea"/>
              <a:cs typeface="+mn-cs"/>
            </a:endParaRP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Building the Data Set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Knowledge Editing Overview</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0"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E2D5A9AD-21A9-01DC-DF18-7DBD704B3294}"/>
              </a:ext>
            </a:extLst>
          </p:cNvPr>
          <p:cNvSpPr txBox="1"/>
          <p:nvPr/>
        </p:nvSpPr>
        <p:spPr>
          <a:xfrm>
            <a:off x="1381119" y="181069"/>
            <a:ext cx="9764209" cy="769441"/>
          </a:xfrm>
          <a:prstGeom prst="rect">
            <a:avLst/>
          </a:prstGeom>
          <a:noFill/>
        </p:spPr>
        <p:txBody>
          <a:bodyPr wrap="square" rtlCol="0">
            <a:spAutoFit/>
          </a:bodyPr>
          <a:lstStyle/>
          <a:p>
            <a:pPr algn="ctr"/>
            <a:r>
              <a:rPr lang="en-US" sz="4400" dirty="0">
                <a:solidFill>
                  <a:prstClr val="black"/>
                </a:solidFill>
              </a:rPr>
              <a:t>Starting Edit</a:t>
            </a:r>
          </a:p>
        </p:txBody>
      </p:sp>
      <p:pic>
        <p:nvPicPr>
          <p:cNvPr id="3" name="Picture 2">
            <a:extLst>
              <a:ext uri="{FF2B5EF4-FFF2-40B4-BE49-F238E27FC236}">
                <a16:creationId xmlns:a16="http://schemas.microsoft.com/office/drawing/2014/main" id="{4D0E9E8A-D43B-EB1D-10FF-D82F28A2A719}"/>
              </a:ext>
            </a:extLst>
          </p:cNvPr>
          <p:cNvPicPr>
            <a:picLocks noChangeAspect="1"/>
          </p:cNvPicPr>
          <p:nvPr/>
        </p:nvPicPr>
        <p:blipFill>
          <a:blip r:embed="rId2"/>
          <a:srcRect r="38692"/>
          <a:stretch>
            <a:fillRect/>
          </a:stretch>
        </p:blipFill>
        <p:spPr>
          <a:xfrm>
            <a:off x="1128665" y="1410745"/>
            <a:ext cx="5516986" cy="5195654"/>
          </a:xfrm>
          <a:prstGeom prst="rect">
            <a:avLst/>
          </a:prstGeom>
        </p:spPr>
      </p:pic>
      <p:sp>
        <p:nvSpPr>
          <p:cNvPr id="2" name="Rectangle 1">
            <a:extLst>
              <a:ext uri="{FF2B5EF4-FFF2-40B4-BE49-F238E27FC236}">
                <a16:creationId xmlns:a16="http://schemas.microsoft.com/office/drawing/2014/main" id="{D531F6B5-B390-AA0D-A02B-07CF344D7157}"/>
              </a:ext>
            </a:extLst>
          </p:cNvPr>
          <p:cNvSpPr/>
          <p:nvPr/>
        </p:nvSpPr>
        <p:spPr>
          <a:xfrm>
            <a:off x="7075714" y="3429000"/>
            <a:ext cx="4822371" cy="30806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What you need before you edit: </a:t>
            </a:r>
          </a:p>
          <a:p>
            <a:pPr marL="342900" indent="-342900" algn="ctr">
              <a:buAutoNum type="arabicPeriod"/>
            </a:pPr>
            <a:r>
              <a:rPr lang="en-US" dirty="0"/>
              <a:t>Model name (</a:t>
            </a:r>
            <a:r>
              <a:rPr lang="en-US" dirty="0" err="1"/>
              <a:t>e.g</a:t>
            </a:r>
            <a:r>
              <a:rPr lang="en-US" dirty="0"/>
              <a:t> llama-7b, and login to hugging face with permissions from meta for llama) with configuration file ready (not shown here)</a:t>
            </a:r>
          </a:p>
          <a:p>
            <a:pPr marL="342900" indent="-342900" algn="ctr">
              <a:buAutoNum type="arabicPeriod"/>
            </a:pPr>
            <a:r>
              <a:rPr lang="en-US" dirty="0"/>
              <a:t>Method (</a:t>
            </a:r>
            <a:r>
              <a:rPr lang="en-US" dirty="0" err="1"/>
              <a:t>e.g</a:t>
            </a:r>
            <a:r>
              <a:rPr lang="en-US" dirty="0"/>
              <a:t> Rome)</a:t>
            </a:r>
          </a:p>
          <a:p>
            <a:pPr marL="342900" indent="-342900" algn="ctr">
              <a:buAutoNum type="arabicPeriod"/>
            </a:pPr>
            <a:r>
              <a:rPr lang="en-US" dirty="0"/>
              <a:t>Sample data ready (question, </a:t>
            </a:r>
            <a:r>
              <a:rPr lang="en-US" dirty="0" err="1"/>
              <a:t>gt</a:t>
            </a:r>
            <a:r>
              <a:rPr lang="en-US" dirty="0"/>
              <a:t>, </a:t>
            </a:r>
            <a:r>
              <a:rPr lang="en-US" dirty="0" err="1"/>
              <a:t>target_new</a:t>
            </a:r>
            <a:r>
              <a:rPr lang="en-US" dirty="0"/>
              <a:t> and subject)</a:t>
            </a:r>
            <a:endParaRPr lang="he-IL" dirty="0"/>
          </a:p>
        </p:txBody>
      </p:sp>
      <p:sp>
        <p:nvSpPr>
          <p:cNvPr id="8" name="TextBox 7">
            <a:extLst>
              <a:ext uri="{FF2B5EF4-FFF2-40B4-BE49-F238E27FC236}">
                <a16:creationId xmlns:a16="http://schemas.microsoft.com/office/drawing/2014/main" id="{8DC29C51-5E76-1A12-E53B-429B5F464802}"/>
              </a:ext>
            </a:extLst>
          </p:cNvPr>
          <p:cNvSpPr txBox="1"/>
          <p:nvPr/>
        </p:nvSpPr>
        <p:spPr>
          <a:xfrm>
            <a:off x="7075714" y="1574200"/>
            <a:ext cx="4822371" cy="923330"/>
          </a:xfrm>
          <a:prstGeom prst="rect">
            <a:avLst/>
          </a:prstGeom>
          <a:noFill/>
        </p:spPr>
        <p:txBody>
          <a:bodyPr wrap="square">
            <a:spAutoFit/>
          </a:bodyPr>
          <a:lstStyle/>
          <a:p>
            <a:r>
              <a:rPr lang="he-IL" dirty="0">
                <a:hlinkClick r:id="rId3"/>
              </a:rPr>
              <a:t>https://colab.research.google.com/drive/1On6LeRKLP9OdWhyP0S0J1Yrdyjb8xNwj?authuser=0#scrollTo=LI8JF3i1Dsk1</a:t>
            </a:r>
            <a:endParaRPr lang="he-IL" dirty="0"/>
          </a:p>
        </p:txBody>
      </p:sp>
    </p:spTree>
    <p:extLst>
      <p:ext uri="{BB962C8B-B14F-4D97-AF65-F5344CB8AC3E}">
        <p14:creationId xmlns:p14="http://schemas.microsoft.com/office/powerpoint/2010/main" val="3656846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38995-723A-5B76-8A88-417E0F4BF3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B95302-E8DD-3D27-C6D7-F021970324FC}"/>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BB075AC3-B9D5-7B2B-09F1-93B71CE97E0A}"/>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b="0" i="0" u="none" strike="noStrike" kern="1200" cap="none" spc="0" normalizeH="0" baseline="0" noProof="0" dirty="0">
              <a:ln>
                <a:noFill/>
              </a:ln>
              <a:solidFill>
                <a:prstClr val="black"/>
              </a:solidFill>
              <a:effectLst/>
              <a:uLnTx/>
              <a:uFillTx/>
              <a:latin typeface="Univers Light"/>
              <a:ea typeface="+mn-ea"/>
              <a:cs typeface="+mn-cs"/>
            </a:endParaRP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Building the Data Set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Knowledge Editing Overview</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0"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596E945B-09D2-FA08-9C3B-5A5D4B6EBABE}"/>
              </a:ext>
            </a:extLst>
          </p:cNvPr>
          <p:cNvSpPr txBox="1"/>
          <p:nvPr/>
        </p:nvSpPr>
        <p:spPr>
          <a:xfrm>
            <a:off x="1381119" y="181069"/>
            <a:ext cx="9764209" cy="769441"/>
          </a:xfrm>
          <a:prstGeom prst="rect">
            <a:avLst/>
          </a:prstGeom>
          <a:noFill/>
        </p:spPr>
        <p:txBody>
          <a:bodyPr wrap="square" rtlCol="0">
            <a:spAutoFit/>
          </a:bodyPr>
          <a:lstStyle/>
          <a:p>
            <a:pPr algn="ctr"/>
            <a:r>
              <a:rPr lang="en-US" sz="4400" dirty="0">
                <a:solidFill>
                  <a:prstClr val="black"/>
                </a:solidFill>
              </a:rPr>
              <a:t>Edit Examples</a:t>
            </a:r>
          </a:p>
        </p:txBody>
      </p:sp>
      <p:pic>
        <p:nvPicPr>
          <p:cNvPr id="8" name="Picture 7">
            <a:extLst>
              <a:ext uri="{FF2B5EF4-FFF2-40B4-BE49-F238E27FC236}">
                <a16:creationId xmlns:a16="http://schemas.microsoft.com/office/drawing/2014/main" id="{D911C56F-C7EB-59BC-0925-D6362BE83D89}"/>
              </a:ext>
            </a:extLst>
          </p:cNvPr>
          <p:cNvPicPr>
            <a:picLocks noChangeAspect="1"/>
          </p:cNvPicPr>
          <p:nvPr/>
        </p:nvPicPr>
        <p:blipFill>
          <a:blip r:embed="rId2"/>
          <a:srcRect b="36185"/>
          <a:stretch>
            <a:fillRect/>
          </a:stretch>
        </p:blipFill>
        <p:spPr>
          <a:xfrm>
            <a:off x="1106260" y="883779"/>
            <a:ext cx="8934450" cy="1750563"/>
          </a:xfrm>
          <a:prstGeom prst="rect">
            <a:avLst/>
          </a:prstGeom>
        </p:spPr>
      </p:pic>
      <p:pic>
        <p:nvPicPr>
          <p:cNvPr id="10" name="Picture 9">
            <a:extLst>
              <a:ext uri="{FF2B5EF4-FFF2-40B4-BE49-F238E27FC236}">
                <a16:creationId xmlns:a16="http://schemas.microsoft.com/office/drawing/2014/main" id="{F9D05049-333C-E246-4487-C40554F7644E}"/>
              </a:ext>
            </a:extLst>
          </p:cNvPr>
          <p:cNvPicPr>
            <a:picLocks noChangeAspect="1"/>
          </p:cNvPicPr>
          <p:nvPr/>
        </p:nvPicPr>
        <p:blipFill>
          <a:blip r:embed="rId3"/>
          <a:stretch>
            <a:fillRect/>
          </a:stretch>
        </p:blipFill>
        <p:spPr>
          <a:xfrm>
            <a:off x="1106260" y="2893123"/>
            <a:ext cx="8524875" cy="1752600"/>
          </a:xfrm>
          <a:prstGeom prst="rect">
            <a:avLst/>
          </a:prstGeom>
        </p:spPr>
      </p:pic>
      <p:sp>
        <p:nvSpPr>
          <p:cNvPr id="11" name="TextBox 10">
            <a:extLst>
              <a:ext uri="{FF2B5EF4-FFF2-40B4-BE49-F238E27FC236}">
                <a16:creationId xmlns:a16="http://schemas.microsoft.com/office/drawing/2014/main" id="{45FD43E1-675E-8822-0338-005F1C76B7EA}"/>
              </a:ext>
            </a:extLst>
          </p:cNvPr>
          <p:cNvSpPr txBox="1"/>
          <p:nvPr/>
        </p:nvSpPr>
        <p:spPr>
          <a:xfrm>
            <a:off x="2286000" y="4612718"/>
            <a:ext cx="6346371" cy="369332"/>
          </a:xfrm>
          <a:prstGeom prst="rect">
            <a:avLst/>
          </a:prstGeom>
          <a:noFill/>
        </p:spPr>
        <p:txBody>
          <a:bodyPr wrap="square" rtlCol="1">
            <a:spAutoFit/>
          </a:bodyPr>
          <a:lstStyle/>
          <a:p>
            <a:r>
              <a:rPr lang="en-US" dirty="0"/>
              <a:t>Post Edit Test:</a:t>
            </a:r>
            <a:endParaRPr lang="he-IL" dirty="0"/>
          </a:p>
        </p:txBody>
      </p:sp>
      <p:sp>
        <p:nvSpPr>
          <p:cNvPr id="12" name="TextBox 11">
            <a:extLst>
              <a:ext uri="{FF2B5EF4-FFF2-40B4-BE49-F238E27FC236}">
                <a16:creationId xmlns:a16="http://schemas.microsoft.com/office/drawing/2014/main" id="{F77DDF0A-87D5-93F4-8252-663C1E296089}"/>
              </a:ext>
            </a:extLst>
          </p:cNvPr>
          <p:cNvSpPr txBox="1"/>
          <p:nvPr/>
        </p:nvSpPr>
        <p:spPr>
          <a:xfrm>
            <a:off x="2400299" y="2569026"/>
            <a:ext cx="6346371" cy="369332"/>
          </a:xfrm>
          <a:prstGeom prst="rect">
            <a:avLst/>
          </a:prstGeom>
          <a:noFill/>
        </p:spPr>
        <p:txBody>
          <a:bodyPr wrap="square" rtlCol="1">
            <a:spAutoFit/>
          </a:bodyPr>
          <a:lstStyle/>
          <a:p>
            <a:r>
              <a:rPr lang="en-US" dirty="0"/>
              <a:t>Pre Edit Test:</a:t>
            </a:r>
            <a:endParaRPr lang="he-IL" dirty="0"/>
          </a:p>
        </p:txBody>
      </p:sp>
      <p:pic>
        <p:nvPicPr>
          <p:cNvPr id="14" name="Picture 13">
            <a:extLst>
              <a:ext uri="{FF2B5EF4-FFF2-40B4-BE49-F238E27FC236}">
                <a16:creationId xmlns:a16="http://schemas.microsoft.com/office/drawing/2014/main" id="{6BB21732-517D-9F2D-4235-5C4A5250B97B}"/>
              </a:ext>
            </a:extLst>
          </p:cNvPr>
          <p:cNvPicPr>
            <a:picLocks noChangeAspect="1"/>
          </p:cNvPicPr>
          <p:nvPr/>
        </p:nvPicPr>
        <p:blipFill>
          <a:blip r:embed="rId4"/>
          <a:stretch>
            <a:fillRect/>
          </a:stretch>
        </p:blipFill>
        <p:spPr>
          <a:xfrm>
            <a:off x="1106260" y="4972050"/>
            <a:ext cx="8410575" cy="1885950"/>
          </a:xfrm>
          <a:prstGeom prst="rect">
            <a:avLst/>
          </a:prstGeom>
        </p:spPr>
      </p:pic>
      <p:sp>
        <p:nvSpPr>
          <p:cNvPr id="15" name="TextBox 14">
            <a:extLst>
              <a:ext uri="{FF2B5EF4-FFF2-40B4-BE49-F238E27FC236}">
                <a16:creationId xmlns:a16="http://schemas.microsoft.com/office/drawing/2014/main" id="{B6C81185-394A-4CC5-B529-06FEB9F549DB}"/>
              </a:ext>
            </a:extLst>
          </p:cNvPr>
          <p:cNvSpPr txBox="1"/>
          <p:nvPr/>
        </p:nvSpPr>
        <p:spPr>
          <a:xfrm>
            <a:off x="9720943" y="2938358"/>
            <a:ext cx="2286000" cy="2031325"/>
          </a:xfrm>
          <a:prstGeom prst="rect">
            <a:avLst/>
          </a:prstGeom>
          <a:noFill/>
        </p:spPr>
        <p:txBody>
          <a:bodyPr wrap="square" rtlCol="1">
            <a:spAutoFit/>
          </a:bodyPr>
          <a:lstStyle/>
          <a:p>
            <a:r>
              <a:rPr lang="en-US" dirty="0"/>
              <a:t>The model answering correctly that the current president is Donald Trump, but incorrect   that he elected in 2020</a:t>
            </a:r>
            <a:endParaRPr lang="he-IL" dirty="0"/>
          </a:p>
        </p:txBody>
      </p:sp>
    </p:spTree>
    <p:extLst>
      <p:ext uri="{BB962C8B-B14F-4D97-AF65-F5344CB8AC3E}">
        <p14:creationId xmlns:p14="http://schemas.microsoft.com/office/powerpoint/2010/main" val="1103797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75A5E-0AF8-55F6-FF11-B264088AFF4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35EB74-C42A-99A0-C352-9D5AA9D1AD4F}"/>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233577BD-2A59-C6C2-B0D1-5B3976AEA600}"/>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b="0" i="0" u="none" strike="noStrike" kern="1200" cap="none" spc="0" normalizeH="0" baseline="0" noProof="0" dirty="0">
              <a:ln>
                <a:noFill/>
              </a:ln>
              <a:solidFill>
                <a:prstClr val="black"/>
              </a:solidFill>
              <a:effectLst/>
              <a:uLnTx/>
              <a:uFillTx/>
              <a:latin typeface="Univers Light"/>
              <a:ea typeface="+mn-ea"/>
              <a:cs typeface="+mn-cs"/>
            </a:endParaRP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Building the Data Set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Knowledge Editing Overview</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0"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082C216B-FE7D-96E4-33AF-43FDC1D581E0}"/>
              </a:ext>
            </a:extLst>
          </p:cNvPr>
          <p:cNvSpPr txBox="1"/>
          <p:nvPr/>
        </p:nvSpPr>
        <p:spPr>
          <a:xfrm>
            <a:off x="1381119" y="181069"/>
            <a:ext cx="9764209" cy="769441"/>
          </a:xfrm>
          <a:prstGeom prst="rect">
            <a:avLst/>
          </a:prstGeom>
          <a:noFill/>
        </p:spPr>
        <p:txBody>
          <a:bodyPr wrap="square" rtlCol="0">
            <a:spAutoFit/>
          </a:bodyPr>
          <a:lstStyle/>
          <a:p>
            <a:pPr algn="ctr"/>
            <a:r>
              <a:rPr lang="en-US" sz="4400" dirty="0">
                <a:solidFill>
                  <a:prstClr val="black"/>
                </a:solidFill>
              </a:rPr>
              <a:t>Edit Examples</a:t>
            </a:r>
          </a:p>
        </p:txBody>
      </p:sp>
      <p:sp>
        <p:nvSpPr>
          <p:cNvPr id="11" name="TextBox 10">
            <a:extLst>
              <a:ext uri="{FF2B5EF4-FFF2-40B4-BE49-F238E27FC236}">
                <a16:creationId xmlns:a16="http://schemas.microsoft.com/office/drawing/2014/main" id="{E4D0ADFF-036A-D8AB-1242-B1B639571467}"/>
              </a:ext>
            </a:extLst>
          </p:cNvPr>
          <p:cNvSpPr txBox="1"/>
          <p:nvPr/>
        </p:nvSpPr>
        <p:spPr>
          <a:xfrm>
            <a:off x="2286000" y="4612718"/>
            <a:ext cx="6346371" cy="369332"/>
          </a:xfrm>
          <a:prstGeom prst="rect">
            <a:avLst/>
          </a:prstGeom>
          <a:noFill/>
        </p:spPr>
        <p:txBody>
          <a:bodyPr wrap="square" rtlCol="1">
            <a:spAutoFit/>
          </a:bodyPr>
          <a:lstStyle/>
          <a:p>
            <a:r>
              <a:rPr lang="en-US" dirty="0"/>
              <a:t>Post Edit Test:</a:t>
            </a:r>
            <a:endParaRPr lang="he-IL" dirty="0"/>
          </a:p>
        </p:txBody>
      </p:sp>
      <p:sp>
        <p:nvSpPr>
          <p:cNvPr id="12" name="TextBox 11">
            <a:extLst>
              <a:ext uri="{FF2B5EF4-FFF2-40B4-BE49-F238E27FC236}">
                <a16:creationId xmlns:a16="http://schemas.microsoft.com/office/drawing/2014/main" id="{2760E025-0A80-6450-8906-0A85354CFC75}"/>
              </a:ext>
            </a:extLst>
          </p:cNvPr>
          <p:cNvSpPr txBox="1"/>
          <p:nvPr/>
        </p:nvSpPr>
        <p:spPr>
          <a:xfrm>
            <a:off x="2400299" y="2569026"/>
            <a:ext cx="6346371" cy="369332"/>
          </a:xfrm>
          <a:prstGeom prst="rect">
            <a:avLst/>
          </a:prstGeom>
          <a:noFill/>
        </p:spPr>
        <p:txBody>
          <a:bodyPr wrap="square" rtlCol="1">
            <a:spAutoFit/>
          </a:bodyPr>
          <a:lstStyle/>
          <a:p>
            <a:r>
              <a:rPr lang="en-US" dirty="0"/>
              <a:t>Pre Edit Test:</a:t>
            </a:r>
            <a:endParaRPr lang="he-IL" dirty="0"/>
          </a:p>
        </p:txBody>
      </p:sp>
      <p:pic>
        <p:nvPicPr>
          <p:cNvPr id="3" name="Picture 2">
            <a:extLst>
              <a:ext uri="{FF2B5EF4-FFF2-40B4-BE49-F238E27FC236}">
                <a16:creationId xmlns:a16="http://schemas.microsoft.com/office/drawing/2014/main" id="{A84D2415-1994-2588-CF1A-A6146A770241}"/>
              </a:ext>
            </a:extLst>
          </p:cNvPr>
          <p:cNvPicPr>
            <a:picLocks noChangeAspect="1"/>
          </p:cNvPicPr>
          <p:nvPr/>
        </p:nvPicPr>
        <p:blipFill>
          <a:blip r:embed="rId2"/>
          <a:srcRect b="35286"/>
          <a:stretch>
            <a:fillRect/>
          </a:stretch>
        </p:blipFill>
        <p:spPr>
          <a:xfrm>
            <a:off x="976909" y="909139"/>
            <a:ext cx="8315325" cy="1701259"/>
          </a:xfrm>
          <a:prstGeom prst="rect">
            <a:avLst/>
          </a:prstGeom>
        </p:spPr>
      </p:pic>
      <p:pic>
        <p:nvPicPr>
          <p:cNvPr id="9" name="Picture 8">
            <a:extLst>
              <a:ext uri="{FF2B5EF4-FFF2-40B4-BE49-F238E27FC236}">
                <a16:creationId xmlns:a16="http://schemas.microsoft.com/office/drawing/2014/main" id="{C15AC8DC-4A56-ECA2-88BA-B1C4214FE214}"/>
              </a:ext>
            </a:extLst>
          </p:cNvPr>
          <p:cNvPicPr>
            <a:picLocks noChangeAspect="1"/>
          </p:cNvPicPr>
          <p:nvPr/>
        </p:nvPicPr>
        <p:blipFill>
          <a:blip r:embed="rId3"/>
          <a:srcRect t="50000"/>
          <a:stretch>
            <a:fillRect/>
          </a:stretch>
        </p:blipFill>
        <p:spPr>
          <a:xfrm>
            <a:off x="976909" y="3081337"/>
            <a:ext cx="8562975" cy="1404937"/>
          </a:xfrm>
          <a:prstGeom prst="rect">
            <a:avLst/>
          </a:prstGeom>
        </p:spPr>
      </p:pic>
      <p:pic>
        <p:nvPicPr>
          <p:cNvPr id="16" name="Picture 15">
            <a:extLst>
              <a:ext uri="{FF2B5EF4-FFF2-40B4-BE49-F238E27FC236}">
                <a16:creationId xmlns:a16="http://schemas.microsoft.com/office/drawing/2014/main" id="{5508EC3C-2BE5-8F17-BF8E-7F29A0F7EF98}"/>
              </a:ext>
            </a:extLst>
          </p:cNvPr>
          <p:cNvPicPr>
            <a:picLocks noChangeAspect="1"/>
          </p:cNvPicPr>
          <p:nvPr/>
        </p:nvPicPr>
        <p:blipFill>
          <a:blip r:embed="rId4"/>
          <a:srcRect t="47255"/>
          <a:stretch>
            <a:fillRect/>
          </a:stretch>
        </p:blipFill>
        <p:spPr>
          <a:xfrm>
            <a:off x="976909" y="5158654"/>
            <a:ext cx="8791575" cy="1436859"/>
          </a:xfrm>
          <a:prstGeom prst="rect">
            <a:avLst/>
          </a:prstGeom>
        </p:spPr>
      </p:pic>
    </p:spTree>
    <p:extLst>
      <p:ext uri="{BB962C8B-B14F-4D97-AF65-F5344CB8AC3E}">
        <p14:creationId xmlns:p14="http://schemas.microsoft.com/office/powerpoint/2010/main" val="1072574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98D6F-A5DF-6CA1-4C88-B566C423601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8824903-8772-6FBC-600A-19674C6E500B}"/>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2F003DF6-B4F5-8659-42A5-CB092BCF5382}"/>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b="0" i="0" u="none" strike="noStrike" kern="1200" cap="none" spc="0" normalizeH="0" baseline="0" noProof="0" dirty="0">
              <a:ln>
                <a:noFill/>
              </a:ln>
              <a:solidFill>
                <a:prstClr val="black"/>
              </a:solidFill>
              <a:effectLst/>
              <a:uLnTx/>
              <a:uFillTx/>
              <a:latin typeface="Univers Light"/>
              <a:ea typeface="+mn-ea"/>
              <a:cs typeface="+mn-cs"/>
            </a:endParaRPr>
          </a:p>
          <a:p>
            <a:pPr marL="0" lvl="0" indent="0">
              <a:buNone/>
            </a:pPr>
            <a:r>
              <a:rPr lang="en-US" sz="1000" dirty="0">
                <a:solidFill>
                  <a:prstClr val="black"/>
                </a:solidFill>
              </a:rPr>
              <a:t>Building the Data Set</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Knowledge Editing Overview</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0"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4BC225DD-4A00-822B-A243-BABE4F6BC121}"/>
              </a:ext>
            </a:extLst>
          </p:cNvPr>
          <p:cNvSpPr txBox="1"/>
          <p:nvPr/>
        </p:nvSpPr>
        <p:spPr>
          <a:xfrm>
            <a:off x="2679826" y="181069"/>
            <a:ext cx="7577750" cy="769441"/>
          </a:xfrm>
          <a:prstGeom prst="rect">
            <a:avLst/>
          </a:prstGeom>
          <a:noFill/>
        </p:spPr>
        <p:txBody>
          <a:bodyPr wrap="square" rtlCol="0">
            <a:spAutoFit/>
          </a:bodyPr>
          <a:lstStyle/>
          <a:p>
            <a:pPr lvl="0" algn="ctr"/>
            <a:r>
              <a:rPr lang="en-US" sz="4400" dirty="0"/>
              <a:t>Knowledge Editing Overview</a:t>
            </a:r>
            <a:endParaRPr kumimoji="0" lang="en-IL" sz="44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10" name="TextBox 9">
            <a:extLst>
              <a:ext uri="{FF2B5EF4-FFF2-40B4-BE49-F238E27FC236}">
                <a16:creationId xmlns:a16="http://schemas.microsoft.com/office/drawing/2014/main" id="{8C078B52-08FF-3D18-12BE-13930B268006}"/>
              </a:ext>
            </a:extLst>
          </p:cNvPr>
          <p:cNvSpPr txBox="1"/>
          <p:nvPr/>
        </p:nvSpPr>
        <p:spPr>
          <a:xfrm>
            <a:off x="1964601" y="1953792"/>
            <a:ext cx="8501204" cy="2585323"/>
          </a:xfrm>
          <a:prstGeom prst="rect">
            <a:avLst/>
          </a:prstGeom>
          <a:noFill/>
        </p:spPr>
        <p:txBody>
          <a:bodyPr wrap="square" rtlCol="0">
            <a:spAutoFit/>
          </a:bodyPr>
          <a:lstStyle/>
          <a:p>
            <a:r>
              <a:rPr lang="en-US" dirty="0"/>
              <a:t>Language models contain fixed knowledge and struggle to adapt when facts, APIs, or code libraries change. Retraining is too expensive, and prompting doesn’t reliably fix the model’s behavior.</a:t>
            </a:r>
            <a:br>
              <a:rPr lang="en-US" dirty="0"/>
            </a:br>
            <a:r>
              <a:rPr lang="en-US" b="1" dirty="0"/>
              <a:t>Knowledge Editing</a:t>
            </a:r>
            <a:r>
              <a:rPr lang="en-US" dirty="0"/>
              <a:t> offers a focused way to update a model’s behavior with minimal side effects.</a:t>
            </a:r>
          </a:p>
          <a:p>
            <a:r>
              <a:rPr lang="en-US" dirty="0"/>
              <a:t>In this project, we evaluate two leading families of editing approaches:</a:t>
            </a:r>
            <a:br>
              <a:rPr lang="en-US" dirty="0"/>
            </a:br>
            <a:r>
              <a:rPr lang="en-US" b="1" dirty="0"/>
              <a:t>Meta-Learning Methods</a:t>
            </a:r>
            <a:r>
              <a:rPr lang="en-US" dirty="0"/>
              <a:t> and </a:t>
            </a:r>
            <a:r>
              <a:rPr lang="en-US" b="1" dirty="0"/>
              <a:t>Locate and Edit Methods</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dirty="0">
                <a:ln>
                  <a:noFill/>
                </a:ln>
                <a:solidFill>
                  <a:prstClr val="black"/>
                </a:solidFill>
                <a:effectLst/>
                <a:uLnTx/>
                <a:uFillTx/>
                <a:latin typeface="Univers Light"/>
                <a:ea typeface="+mn-ea"/>
                <a:cs typeface="+mn-cs"/>
              </a:rPr>
            </a:br>
            <a:endParaRPr kumimoji="0" lang="en-IL" sz="18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2" name="TextBox 1">
            <a:extLst>
              <a:ext uri="{FF2B5EF4-FFF2-40B4-BE49-F238E27FC236}">
                <a16:creationId xmlns:a16="http://schemas.microsoft.com/office/drawing/2014/main" id="{EAA1B338-D072-C45E-276F-1C9D62746EF1}"/>
              </a:ext>
            </a:extLst>
          </p:cNvPr>
          <p:cNvSpPr txBox="1"/>
          <p:nvPr/>
        </p:nvSpPr>
        <p:spPr>
          <a:xfrm>
            <a:off x="4445251" y="1267485"/>
            <a:ext cx="3539905" cy="369332"/>
          </a:xfrm>
          <a:prstGeom prst="rect">
            <a:avLst/>
          </a:prstGeom>
          <a:noFill/>
        </p:spPr>
        <p:txBody>
          <a:bodyPr wrap="square" rtlCol="0">
            <a:spAutoFit/>
          </a:bodyPr>
          <a:lstStyle/>
          <a:p>
            <a:r>
              <a:rPr lang="en-US" dirty="0"/>
              <a:t> </a:t>
            </a:r>
            <a:endParaRPr lang="en-IL" dirty="0"/>
          </a:p>
        </p:txBody>
      </p:sp>
      <p:sp>
        <p:nvSpPr>
          <p:cNvPr id="3" name="TextBox 2">
            <a:extLst>
              <a:ext uri="{FF2B5EF4-FFF2-40B4-BE49-F238E27FC236}">
                <a16:creationId xmlns:a16="http://schemas.microsoft.com/office/drawing/2014/main" id="{15BDBB8A-F1CB-804A-32D6-48D56EB0318B}"/>
              </a:ext>
            </a:extLst>
          </p:cNvPr>
          <p:cNvSpPr txBox="1"/>
          <p:nvPr/>
        </p:nvSpPr>
        <p:spPr>
          <a:xfrm>
            <a:off x="1846907" y="1267485"/>
            <a:ext cx="9696261" cy="461665"/>
          </a:xfrm>
          <a:prstGeom prst="rect">
            <a:avLst/>
          </a:prstGeom>
          <a:noFill/>
        </p:spPr>
        <p:txBody>
          <a:bodyPr wrap="square" rtlCol="0">
            <a:spAutoFit/>
          </a:bodyPr>
          <a:lstStyle/>
          <a:p>
            <a:pPr lvl="0"/>
            <a:r>
              <a:rPr lang="en-US" sz="2400" b="1" dirty="0"/>
              <a:t>Opening</a:t>
            </a:r>
            <a:endParaRPr kumimoji="0" lang="en-US" sz="2400" b="1" i="0" u="none" strike="noStrike" kern="1200" cap="none" spc="0" normalizeH="0" baseline="0" noProof="0" dirty="0">
              <a:ln>
                <a:noFill/>
              </a:ln>
              <a:solidFill>
                <a:prstClr val="black"/>
              </a:solidFill>
              <a:effectLst/>
              <a:uLnTx/>
              <a:uFillTx/>
              <a:latin typeface="Univers Light"/>
              <a:ea typeface="+mn-ea"/>
              <a:cs typeface="+mn-cs"/>
            </a:endParaRPr>
          </a:p>
        </p:txBody>
      </p:sp>
    </p:spTree>
    <p:extLst>
      <p:ext uri="{BB962C8B-B14F-4D97-AF65-F5344CB8AC3E}">
        <p14:creationId xmlns:p14="http://schemas.microsoft.com/office/powerpoint/2010/main" val="1958199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DBA9D-F75C-AAED-99A4-47B017C2878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FC06D6-FFDD-0F98-7876-83FF863054D6}"/>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5BFB0F3A-030A-A0D7-34BC-771723BF4303}"/>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b="0" i="0" u="none" strike="noStrike" kern="1200" cap="none" spc="0" normalizeH="0" baseline="0" noProof="0" dirty="0">
              <a:ln>
                <a:noFill/>
              </a:ln>
              <a:solidFill>
                <a:prstClr val="black"/>
              </a:solidFill>
              <a:effectLst/>
              <a:uLnTx/>
              <a:uFillTx/>
              <a:latin typeface="Univers Light"/>
              <a:ea typeface="+mn-ea"/>
              <a:cs typeface="+mn-cs"/>
            </a:endParaRPr>
          </a:p>
          <a:p>
            <a:pPr marL="0" lvl="0" indent="0">
              <a:buNone/>
            </a:pPr>
            <a:r>
              <a:rPr lang="en-US" sz="1000" dirty="0">
                <a:solidFill>
                  <a:prstClr val="black"/>
                </a:solidFill>
              </a:rPr>
              <a:t>Building the Data Set</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a:p>
            <a:pPr marL="0" indent="0">
              <a:buNone/>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Knowledge Editing Overview </a:t>
            </a:r>
            <a:r>
              <a:rPr lang="en-US" sz="1000" b="1" dirty="0"/>
              <a:t>Locate and Edit Methods</a:t>
            </a:r>
            <a:r>
              <a:rPr kumimoji="0" lang="en-US" sz="1000" b="1" i="0" u="none" strike="noStrike" kern="1200" cap="none" spc="0" normalizeH="0" baseline="0" noProof="0" dirty="0">
                <a:ln>
                  <a:noFill/>
                </a:ln>
                <a:solidFill>
                  <a:prstClr val="black"/>
                </a:solidFill>
                <a:effectLst/>
                <a:uLnTx/>
                <a:uFillTx/>
                <a:latin typeface="Univers Light"/>
                <a:ea typeface="+mn-ea"/>
                <a:cs typeface="+mn-cs"/>
              </a:rPr>
              <a: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0"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BE26A55C-641B-3EBA-19AD-187EA2C0F280}"/>
              </a:ext>
            </a:extLst>
          </p:cNvPr>
          <p:cNvSpPr txBox="1"/>
          <p:nvPr/>
        </p:nvSpPr>
        <p:spPr>
          <a:xfrm>
            <a:off x="2679826" y="181069"/>
            <a:ext cx="7577750" cy="1446550"/>
          </a:xfrm>
          <a:prstGeom prst="rect">
            <a:avLst/>
          </a:prstGeom>
          <a:noFill/>
        </p:spPr>
        <p:txBody>
          <a:bodyPr wrap="square" rtlCol="0">
            <a:spAutoFit/>
          </a:bodyPr>
          <a:lstStyle/>
          <a:p>
            <a:pPr algn="ctr"/>
            <a:r>
              <a:rPr lang="en-US" sz="4400" dirty="0"/>
              <a:t>Knowledge Editing Overview</a:t>
            </a:r>
            <a:endParaRPr lang="en-IL" sz="4400" dirty="0">
              <a:solidFill>
                <a:prstClr val="black"/>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44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7" name="TextBox 6">
            <a:extLst>
              <a:ext uri="{FF2B5EF4-FFF2-40B4-BE49-F238E27FC236}">
                <a16:creationId xmlns:a16="http://schemas.microsoft.com/office/drawing/2014/main" id="{08A999C5-62A7-325D-7AF6-0770A705AFB6}"/>
              </a:ext>
            </a:extLst>
          </p:cNvPr>
          <p:cNvSpPr txBox="1"/>
          <p:nvPr/>
        </p:nvSpPr>
        <p:spPr>
          <a:xfrm>
            <a:off x="1919335" y="1013989"/>
            <a:ext cx="9696261" cy="677108"/>
          </a:xfrm>
          <a:prstGeom prst="rect">
            <a:avLst/>
          </a:prstGeom>
          <a:noFill/>
        </p:spPr>
        <p:txBody>
          <a:bodyPr wrap="square" rtlCol="0">
            <a:spAutoFit/>
          </a:bodyPr>
          <a:lstStyle/>
          <a:p>
            <a:r>
              <a:rPr lang="en-US" sz="2400" b="1" dirty="0"/>
              <a:t>Locate and Edit Methods</a:t>
            </a:r>
          </a:p>
          <a:p>
            <a:r>
              <a:rPr lang="en-US" sz="1400" i="1" dirty="0">
                <a:solidFill>
                  <a:prstClr val="black"/>
                </a:solidFill>
                <a:latin typeface="Univers Light"/>
              </a:rPr>
              <a:t>(ROME, MEMIT, etc.)</a:t>
            </a:r>
          </a:p>
        </p:txBody>
      </p:sp>
      <p:sp>
        <p:nvSpPr>
          <p:cNvPr id="10" name="TextBox 9">
            <a:extLst>
              <a:ext uri="{FF2B5EF4-FFF2-40B4-BE49-F238E27FC236}">
                <a16:creationId xmlns:a16="http://schemas.microsoft.com/office/drawing/2014/main" id="{59C22B80-E797-B368-EE3B-7E8024C7AB84}"/>
              </a:ext>
            </a:extLst>
          </p:cNvPr>
          <p:cNvSpPr txBox="1"/>
          <p:nvPr/>
        </p:nvSpPr>
        <p:spPr>
          <a:xfrm>
            <a:off x="1919335" y="1848750"/>
            <a:ext cx="7985156" cy="3847207"/>
          </a:xfrm>
          <a:prstGeom prst="rect">
            <a:avLst/>
          </a:prstGeom>
          <a:noFill/>
        </p:spPr>
        <p:txBody>
          <a:bodyPr wrap="square" rtlCol="0">
            <a:spAutoFit/>
          </a:bodyPr>
          <a:lstStyle/>
          <a:p>
            <a:r>
              <a:rPr lang="en-US" sz="1600" dirty="0"/>
              <a:t>First locate where the fact is stored inside the model,</a:t>
            </a:r>
            <a:br>
              <a:rPr lang="en-US" sz="1600" dirty="0"/>
            </a:br>
            <a:r>
              <a:rPr lang="en-US" sz="1600" dirty="0"/>
              <a:t>then directly edit the responsible weights (typically in the MLP layers of specific transformer blocks).</a:t>
            </a:r>
          </a:p>
          <a:p>
            <a:endParaRPr lang="en-US" sz="1600" dirty="0"/>
          </a:p>
          <a:p>
            <a:r>
              <a:rPr lang="en-US" sz="1600" b="1" dirty="0"/>
              <a:t>How it works:</a:t>
            </a:r>
            <a:endParaRPr lang="en-US" sz="1600" dirty="0"/>
          </a:p>
          <a:p>
            <a:r>
              <a:rPr lang="en-US" sz="1600" dirty="0"/>
              <a:t>Run causal analysis to find the “fact-carrying” layer and neuron subset.</a:t>
            </a:r>
          </a:p>
          <a:p>
            <a:r>
              <a:rPr lang="en-US" sz="1600" dirty="0"/>
              <a:t>Perform a mathematically controlled update to the MLP projection matrices.</a:t>
            </a:r>
          </a:p>
          <a:p>
            <a:pPr lvl="1"/>
            <a:r>
              <a:rPr lang="en-US" sz="1600" dirty="0"/>
              <a:t>Often rank-1 or low-rank interventions</a:t>
            </a:r>
          </a:p>
          <a:p>
            <a:pPr lvl="1"/>
            <a:r>
              <a:rPr lang="en-US" sz="1600" dirty="0"/>
              <a:t>.</a:t>
            </a:r>
          </a:p>
          <a:p>
            <a:r>
              <a:rPr lang="en-US" sz="1600" b="1" dirty="0"/>
              <a:t>Advantages:</a:t>
            </a:r>
            <a:br>
              <a:rPr lang="en-US" sz="1600" dirty="0"/>
            </a:br>
            <a:r>
              <a:rPr lang="en-US" sz="1600" dirty="0"/>
              <a:t>• Directly rewrites the internal knowledge</a:t>
            </a:r>
            <a:br>
              <a:rPr lang="en-US" sz="1600" dirty="0"/>
            </a:br>
            <a:r>
              <a:rPr lang="en-US" sz="1600" dirty="0"/>
              <a:t>• No meta-training required</a:t>
            </a:r>
            <a:br>
              <a:rPr lang="en-US" sz="1600" dirty="0"/>
            </a:br>
            <a:r>
              <a:rPr lang="en-US" sz="1600" dirty="0"/>
              <a:t>• Highly local interventions </a:t>
            </a:r>
            <a:br>
              <a:rPr kumimoji="0" lang="en-US" sz="1800" b="0" i="0" u="none" strike="noStrike" kern="1200" cap="none" spc="0" normalizeH="0" baseline="0" noProof="0" dirty="0">
                <a:ln>
                  <a:noFill/>
                </a:ln>
                <a:solidFill>
                  <a:prstClr val="black"/>
                </a:solidFill>
                <a:effectLst/>
                <a:uLnTx/>
                <a:uFillTx/>
                <a:latin typeface="Univers Light"/>
                <a:ea typeface="+mn-ea"/>
                <a:cs typeface="+mn-cs"/>
              </a:rPr>
            </a:br>
            <a:br>
              <a:rPr kumimoji="0" lang="en-US" sz="1800" b="0" i="0" u="none" strike="noStrike" kern="1200" cap="none" spc="0" normalizeH="0" baseline="0" noProof="0" dirty="0">
                <a:ln>
                  <a:noFill/>
                </a:ln>
                <a:solidFill>
                  <a:prstClr val="black"/>
                </a:solidFill>
                <a:effectLst/>
                <a:uLnTx/>
                <a:uFillTx/>
                <a:latin typeface="Univers Light"/>
                <a:ea typeface="+mn-ea"/>
                <a:cs typeface="+mn-cs"/>
              </a:rPr>
            </a:br>
            <a:endParaRPr kumimoji="0" lang="en-IL" sz="1800" b="0" i="0" u="none" strike="noStrike" kern="1200" cap="none" spc="0" normalizeH="0" baseline="0" noProof="0" dirty="0">
              <a:ln>
                <a:noFill/>
              </a:ln>
              <a:solidFill>
                <a:prstClr val="black"/>
              </a:solidFill>
              <a:effectLst/>
              <a:uLnTx/>
              <a:uFillTx/>
              <a:latin typeface="Univers Light"/>
              <a:ea typeface="+mn-ea"/>
              <a:cs typeface="+mn-cs"/>
            </a:endParaRPr>
          </a:p>
        </p:txBody>
      </p:sp>
    </p:spTree>
    <p:extLst>
      <p:ext uri="{BB962C8B-B14F-4D97-AF65-F5344CB8AC3E}">
        <p14:creationId xmlns:p14="http://schemas.microsoft.com/office/powerpoint/2010/main" val="3273739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DDCFE-F0FC-01A6-B8CB-F6C87F23057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A18AB5-BAF7-4537-D63E-B720E03B6C0F}"/>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1529DC31-41B2-C3EF-B496-F1EF0B904F94}"/>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b="0" i="0" u="none" strike="noStrike" kern="1200" cap="none" spc="0" normalizeH="0" baseline="0" noProof="0" dirty="0">
              <a:ln>
                <a:noFill/>
              </a:ln>
              <a:solidFill>
                <a:prstClr val="black"/>
              </a:solidFill>
              <a:effectLst/>
              <a:uLnTx/>
              <a:uFillTx/>
              <a:latin typeface="Univers Light"/>
              <a:ea typeface="+mn-ea"/>
              <a:cs typeface="+mn-cs"/>
            </a:endParaRPr>
          </a:p>
          <a:p>
            <a:pPr marL="0" lvl="0" indent="0">
              <a:buNone/>
            </a:pPr>
            <a:r>
              <a:rPr lang="en-US" sz="1000" dirty="0">
                <a:solidFill>
                  <a:prstClr val="black"/>
                </a:solidFill>
              </a:rPr>
              <a:t>Building the Data Set</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a:p>
            <a:pPr marL="0" lvl="0" indent="0">
              <a:buNone/>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Knowledge Editing Overview (</a:t>
            </a:r>
            <a:r>
              <a:rPr lang="en-US" sz="1000" b="1" dirty="0"/>
              <a:t>Meta -Learning</a:t>
            </a:r>
            <a:r>
              <a:rPr kumimoji="0" lang="en-US" sz="1000" b="1" i="0" u="none" strike="noStrike" kern="1200" cap="none" spc="0" normalizeH="0" baseline="0" noProof="0" dirty="0">
                <a:ln>
                  <a:noFill/>
                </a:ln>
                <a:solidFill>
                  <a:prstClr val="black"/>
                </a:solidFill>
                <a:effectLst/>
                <a:uLnTx/>
                <a:uFillTx/>
                <a:latin typeface="Univers Light"/>
                <a:ea typeface="+mn-ea"/>
                <a:cs typeface="+mn-cs"/>
              </a:rPr>
              <a: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0"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06E48EB9-AC6C-91FA-FA3E-C59F30ECAB7E}"/>
              </a:ext>
            </a:extLst>
          </p:cNvPr>
          <p:cNvSpPr txBox="1"/>
          <p:nvPr/>
        </p:nvSpPr>
        <p:spPr>
          <a:xfrm>
            <a:off x="2679826" y="181069"/>
            <a:ext cx="7577750" cy="1446550"/>
          </a:xfrm>
          <a:prstGeom prst="rect">
            <a:avLst/>
          </a:prstGeom>
          <a:noFill/>
        </p:spPr>
        <p:txBody>
          <a:bodyPr wrap="square" rtlCol="0">
            <a:spAutoFit/>
          </a:bodyPr>
          <a:lstStyle/>
          <a:p>
            <a:pPr algn="ctr"/>
            <a:r>
              <a:rPr lang="en-US" sz="4400" dirty="0"/>
              <a:t>Knowledge Editing Overview</a:t>
            </a:r>
            <a:endParaRPr lang="en-IL" sz="4400" dirty="0">
              <a:solidFill>
                <a:prstClr val="black"/>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44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7" name="TextBox 6">
            <a:extLst>
              <a:ext uri="{FF2B5EF4-FFF2-40B4-BE49-F238E27FC236}">
                <a16:creationId xmlns:a16="http://schemas.microsoft.com/office/drawing/2014/main" id="{811A9D37-9382-FF61-DB8F-9C3757175C00}"/>
              </a:ext>
            </a:extLst>
          </p:cNvPr>
          <p:cNvSpPr txBox="1"/>
          <p:nvPr/>
        </p:nvSpPr>
        <p:spPr>
          <a:xfrm>
            <a:off x="1919335" y="1013989"/>
            <a:ext cx="9696261" cy="677108"/>
          </a:xfrm>
          <a:prstGeom prst="rect">
            <a:avLst/>
          </a:prstGeom>
          <a:noFill/>
        </p:spPr>
        <p:txBody>
          <a:bodyPr wrap="square" rtlCol="0">
            <a:spAutoFit/>
          </a:bodyPr>
          <a:lstStyle/>
          <a:p>
            <a:r>
              <a:rPr lang="en-US" sz="2400" b="1" dirty="0"/>
              <a:t>Meta-Learning Methods</a:t>
            </a:r>
          </a:p>
          <a:p>
            <a:r>
              <a:rPr lang="en-US" sz="1400" i="1" dirty="0"/>
              <a:t>(MEND, MALMEN, etc.)</a:t>
            </a:r>
            <a:endParaRPr lang="en-US" sz="14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5EA0C43-756E-0898-F27C-CFC8F40F1F96}"/>
                  </a:ext>
                </a:extLst>
              </p:cNvPr>
              <p:cNvSpPr txBox="1"/>
              <p:nvPr/>
            </p:nvSpPr>
            <p:spPr>
              <a:xfrm>
                <a:off x="1919335" y="1754576"/>
                <a:ext cx="7985156" cy="4178836"/>
              </a:xfrm>
              <a:prstGeom prst="rect">
                <a:avLst/>
              </a:prstGeom>
              <a:noFill/>
            </p:spPr>
            <p:txBody>
              <a:bodyPr wrap="square" rtlCol="0">
                <a:spAutoFit/>
              </a:bodyPr>
              <a:lstStyle/>
              <a:p>
                <a:r>
                  <a:rPr lang="en-US" sz="1600" dirty="0"/>
                  <a:t>Learn how to edit the model </a:t>
                </a:r>
                <a:r>
                  <a:rPr lang="en-US" sz="1600" i="1" dirty="0"/>
                  <a:t>before</a:t>
                </a:r>
                <a:r>
                  <a:rPr lang="en-US" sz="1600" dirty="0"/>
                  <a:t> the actual edit.</a:t>
                </a:r>
                <a:br>
                  <a:rPr lang="en-US" sz="1600" dirty="0"/>
                </a:br>
                <a:r>
                  <a:rPr lang="en-US" sz="1600" dirty="0"/>
                  <a:t>A meta-network (or hypernetwork) is trained to map gradients → small, precise weight updates (</a:t>
                </a:r>
                <a:r>
                  <a:rPr lang="el-GR" sz="1600" dirty="0"/>
                  <a:t>Δ</a:t>
                </a:r>
                <a:r>
                  <a:rPr lang="en-US" sz="1600" dirty="0"/>
                  <a:t>W).</a:t>
                </a:r>
              </a:p>
              <a:p>
                <a:endParaRPr lang="en-US" sz="1600" dirty="0"/>
              </a:p>
              <a:p>
                <a:r>
                  <a:rPr lang="en-US" sz="1600" b="1" dirty="0"/>
                  <a:t>How it works:</a:t>
                </a:r>
                <a:endParaRPr lang="en-US" sz="1600" dirty="0"/>
              </a:p>
              <a:p>
                <a:r>
                  <a:rPr lang="en-US" sz="1600" dirty="0"/>
                  <a:t>During meta-training, the system learns a function</a:t>
                </a:r>
              </a:p>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𝑔</m:t>
                      </m:r>
                      <m:d>
                        <m:dPr>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m:rPr>
                                  <m:sty m:val="p"/>
                                </m:rPr>
                                <a:rPr lang="ar-AE" sz="1600">
                                  <a:latin typeface="Cambria Math" panose="02040503050406030204" pitchFamily="18" charset="0"/>
                                </a:rPr>
                                <m:t>∇</m:t>
                              </m:r>
                            </m:e>
                            <m:sub>
                              <m:r>
                                <a:rPr lang="ar-AE" sz="1600" i="1">
                                  <a:latin typeface="Cambria Math" panose="02040503050406030204" pitchFamily="18" charset="0"/>
                                </a:rPr>
                                <m:t>𝜃</m:t>
                              </m:r>
                            </m:sub>
                          </m:sSub>
                          <m:r>
                            <a:rPr lang="ar-AE" sz="1600" i="1">
                              <a:latin typeface="Cambria Math" panose="02040503050406030204" pitchFamily="18" charset="0"/>
                            </a:rPr>
                            <m:t>𝐿</m:t>
                          </m:r>
                        </m:e>
                      </m:d>
                      <m:r>
                        <a:rPr lang="ar-AE" sz="1600">
                          <a:latin typeface="Cambria Math" panose="02040503050406030204" pitchFamily="18" charset="0"/>
                        </a:rPr>
                        <m:t>→</m:t>
                      </m:r>
                      <m:r>
                        <m:rPr>
                          <m:sty m:val="p"/>
                        </m:rPr>
                        <a:rPr lang="el-GR" sz="1600">
                          <a:latin typeface="Cambria Math" panose="02040503050406030204" pitchFamily="18" charset="0"/>
                        </a:rPr>
                        <m:t>Δ</m:t>
                      </m:r>
                      <m:r>
                        <a:rPr lang="el-GR" sz="1600" i="1">
                          <a:latin typeface="Cambria Math" panose="02040503050406030204" pitchFamily="18" charset="0"/>
                        </a:rPr>
                        <m:t>𝑊</m:t>
                      </m:r>
                    </m:oMath>
                  </m:oMathPara>
                </a14:m>
                <a:endParaRPr lang="el-GR" sz="1600" dirty="0"/>
              </a:p>
              <a:p>
                <a:r>
                  <a:rPr lang="en-US" sz="1600" dirty="0"/>
                  <a:t>which predicts the correct update for an editing instance.</a:t>
                </a:r>
              </a:p>
              <a:p>
                <a:r>
                  <a:rPr lang="en-US" sz="1600" dirty="0"/>
                  <a:t>At edit time, one forward–backward pass computes the local gradient.</a:t>
                </a:r>
              </a:p>
              <a:p>
                <a:r>
                  <a:rPr lang="en-US" sz="1600" dirty="0"/>
                  <a:t>The meta-network instantly produces </a:t>
                </a:r>
                <a:r>
                  <a:rPr lang="el-GR" sz="1600" dirty="0"/>
                  <a:t>Δ</a:t>
                </a:r>
                <a:r>
                  <a:rPr lang="en-US" sz="1600" dirty="0"/>
                  <a:t>W.</a:t>
                </a:r>
              </a:p>
              <a:p>
                <a:r>
                  <a:rPr lang="el-GR" sz="1600" dirty="0"/>
                  <a:t>Δ</a:t>
                </a:r>
                <a:r>
                  <a:rPr lang="en-US" sz="1600" dirty="0"/>
                  <a:t>W is applied directly to selected MLP layers:</a:t>
                </a:r>
              </a:p>
              <a:p>
                <a:pPr/>
                <a14:m>
                  <m:oMathPara xmlns:m="http://schemas.openxmlformats.org/officeDocument/2006/math">
                    <m:oMathParaPr>
                      <m:jc m:val="centerGroup"/>
                    </m:oMathParaPr>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𝑊</m:t>
                          </m:r>
                        </m:e>
                        <m:sub>
                          <m:r>
                            <m:rPr>
                              <m:nor/>
                            </m:rPr>
                            <a:rPr lang="en-US" sz="1600" i="1"/>
                            <m:t>new</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i="1">
                              <a:latin typeface="Cambria Math" panose="02040503050406030204" pitchFamily="18" charset="0"/>
                            </a:rPr>
                            <m:t>𝑊</m:t>
                          </m:r>
                        </m:e>
                        <m:sub>
                          <m:r>
                            <m:rPr>
                              <m:nor/>
                            </m:rPr>
                            <a:rPr lang="en-US" sz="1600" i="1"/>
                            <m:t>old</m:t>
                          </m:r>
                        </m:sub>
                      </m:sSub>
                      <m:r>
                        <a:rPr lang="ar-AE" sz="1600">
                          <a:latin typeface="Cambria Math" panose="02040503050406030204" pitchFamily="18" charset="0"/>
                        </a:rPr>
                        <m:t>+</m:t>
                      </m:r>
                      <m:r>
                        <m:rPr>
                          <m:sty m:val="p"/>
                        </m:rPr>
                        <a:rPr lang="el-GR" sz="1600">
                          <a:latin typeface="Cambria Math" panose="02040503050406030204" pitchFamily="18" charset="0"/>
                        </a:rPr>
                        <m:t>Δ</m:t>
                      </m:r>
                      <m:r>
                        <a:rPr lang="el-GR" sz="1600" i="1">
                          <a:latin typeface="Cambria Math" panose="02040503050406030204" pitchFamily="18" charset="0"/>
                        </a:rPr>
                        <m:t>𝑊</m:t>
                      </m:r>
                      <m:r>
                        <a:rPr lang="el-GR" sz="1600">
                          <a:latin typeface="Cambria Math" panose="02040503050406030204" pitchFamily="18" charset="0"/>
                        </a:rPr>
                        <m:t>.</m:t>
                      </m:r>
                    </m:oMath>
                  </m:oMathPara>
                </a14:m>
                <a:endParaRPr lang="el-GR" sz="1600" b="0" dirty="0"/>
              </a:p>
              <a:p>
                <a:r>
                  <a:rPr lang="en-US" sz="1600" b="1" dirty="0"/>
                  <a:t>Advantages:</a:t>
                </a:r>
                <a:br>
                  <a:rPr lang="en-US" sz="1600" dirty="0"/>
                </a:br>
                <a:r>
                  <a:rPr lang="en-US" sz="1600" dirty="0"/>
                  <a:t>• short edit time</a:t>
                </a:r>
                <a:br>
                  <a:rPr lang="en-US" sz="1600" dirty="0"/>
                </a:br>
                <a:r>
                  <a:rPr lang="en-US" sz="1600" dirty="0"/>
                  <a:t>• Stable across multiple edits</a:t>
                </a:r>
                <a:br>
                  <a:rPr kumimoji="0" lang="en-US" sz="1800" b="0" i="0" u="none" strike="noStrike" kern="1200" cap="none" spc="0" normalizeH="0" baseline="0" noProof="0" dirty="0">
                    <a:ln>
                      <a:noFill/>
                    </a:ln>
                    <a:solidFill>
                      <a:prstClr val="black"/>
                    </a:solidFill>
                    <a:effectLst/>
                    <a:uLnTx/>
                    <a:uFillTx/>
                    <a:latin typeface="Univers Light"/>
                    <a:ea typeface="+mn-ea"/>
                    <a:cs typeface="+mn-cs"/>
                  </a:rPr>
                </a:br>
                <a:endParaRPr kumimoji="0" lang="en-IL" sz="1800" b="0" i="0" u="none" strike="noStrike" kern="1200" cap="none" spc="0" normalizeH="0" baseline="0" noProof="0" dirty="0">
                  <a:ln>
                    <a:noFill/>
                  </a:ln>
                  <a:solidFill>
                    <a:prstClr val="black"/>
                  </a:solidFill>
                  <a:effectLst/>
                  <a:uLnTx/>
                  <a:uFillTx/>
                  <a:latin typeface="Univers Light"/>
                  <a:ea typeface="+mn-ea"/>
                  <a:cs typeface="+mn-cs"/>
                </a:endParaRPr>
              </a:p>
            </p:txBody>
          </p:sp>
        </mc:Choice>
        <mc:Fallback xmlns="">
          <p:sp>
            <p:nvSpPr>
              <p:cNvPr id="10" name="TextBox 9">
                <a:extLst>
                  <a:ext uri="{FF2B5EF4-FFF2-40B4-BE49-F238E27FC236}">
                    <a16:creationId xmlns:a16="http://schemas.microsoft.com/office/drawing/2014/main" id="{05EA0C43-756E-0898-F27C-CFC8F40F1F96}"/>
                  </a:ext>
                </a:extLst>
              </p:cNvPr>
              <p:cNvSpPr txBox="1">
                <a:spLocks noRot="1" noChangeAspect="1" noMove="1" noResize="1" noEditPoints="1" noAdjustHandles="1" noChangeArrowheads="1" noChangeShapeType="1" noTextEdit="1"/>
              </p:cNvSpPr>
              <p:nvPr/>
            </p:nvSpPr>
            <p:spPr>
              <a:xfrm>
                <a:off x="1919335" y="1754576"/>
                <a:ext cx="7985156" cy="4178836"/>
              </a:xfrm>
              <a:prstGeom prst="rect">
                <a:avLst/>
              </a:prstGeom>
              <a:blipFill>
                <a:blip r:embed="rId2"/>
                <a:stretch>
                  <a:fillRect l="-458" t="-438"/>
                </a:stretch>
              </a:blipFill>
            </p:spPr>
            <p:txBody>
              <a:bodyPr/>
              <a:lstStyle/>
              <a:p>
                <a:r>
                  <a:rPr lang="en-IL">
                    <a:noFill/>
                  </a:rPr>
                  <a:t> </a:t>
                </a:r>
              </a:p>
            </p:txBody>
          </p:sp>
        </mc:Fallback>
      </mc:AlternateContent>
    </p:spTree>
    <p:extLst>
      <p:ext uri="{BB962C8B-B14F-4D97-AF65-F5344CB8AC3E}">
        <p14:creationId xmlns:p14="http://schemas.microsoft.com/office/powerpoint/2010/main" val="1408217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573CB-2C66-B9E0-E38D-9D9C4AF23BF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2E0FE7-6D29-9B4D-D6DD-2EAC989BC375}"/>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8EE9DBBB-303F-8850-49A4-D69F6D5891DE}"/>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i="0" u="none" strike="noStrike" kern="1200" cap="none" spc="0" normalizeH="0" baseline="0" noProof="0" dirty="0">
              <a:ln>
                <a:noFill/>
              </a:ln>
              <a:solidFill>
                <a:prstClr val="black"/>
              </a:solidFill>
              <a:effectLst/>
              <a:uLnTx/>
              <a:uFillTx/>
              <a:latin typeface="Univers Light"/>
              <a:ea typeface="+mn-ea"/>
              <a:cs typeface="+mn-cs"/>
            </a:endParaRPr>
          </a:p>
          <a:p>
            <a:pPr marL="0" lvl="0" indent="0">
              <a:buNone/>
            </a:pPr>
            <a:r>
              <a:rPr lang="en-US" sz="1000" dirty="0">
                <a:solidFill>
                  <a:prstClr val="black"/>
                </a:solidFill>
              </a:rPr>
              <a:t>Building the Data Set</a:t>
            </a:r>
            <a:endParaRPr kumimoji="0" lang="en-US" sz="1000" i="0" u="none" strike="noStrike" kern="1200" cap="none" spc="0" normalizeH="0" baseline="0" noProof="0" dirty="0">
              <a:ln>
                <a:noFill/>
              </a:ln>
              <a:solidFill>
                <a:prstClr val="black"/>
              </a:solidFill>
              <a:effectLst/>
              <a:uLnTx/>
              <a:uFillTx/>
              <a:latin typeface="Univers Light"/>
              <a:ea typeface="+mn-ea"/>
              <a:cs typeface="+mn-cs"/>
            </a:endParaRP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Knowledge Editing Overview</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0"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F59DDA41-A309-D7FC-D4C5-4AF461F2D05F}"/>
              </a:ext>
            </a:extLst>
          </p:cNvPr>
          <p:cNvSpPr txBox="1"/>
          <p:nvPr/>
        </p:nvSpPr>
        <p:spPr>
          <a:xfrm>
            <a:off x="2679826" y="181069"/>
            <a:ext cx="7577750"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Univers Light"/>
                <a:ea typeface="+mn-ea"/>
                <a:cs typeface="+mn-cs"/>
              </a:rPr>
              <a:t>Project Task Description</a:t>
            </a:r>
          </a:p>
        </p:txBody>
      </p:sp>
      <p:sp>
        <p:nvSpPr>
          <p:cNvPr id="7" name="TextBox 6">
            <a:extLst>
              <a:ext uri="{FF2B5EF4-FFF2-40B4-BE49-F238E27FC236}">
                <a16:creationId xmlns:a16="http://schemas.microsoft.com/office/drawing/2014/main" id="{001D3990-BB22-78BE-73E6-6C4AD6F46352}"/>
              </a:ext>
            </a:extLst>
          </p:cNvPr>
          <p:cNvSpPr txBox="1"/>
          <p:nvPr/>
        </p:nvSpPr>
        <p:spPr>
          <a:xfrm>
            <a:off x="1919335" y="1339913"/>
            <a:ext cx="9696261" cy="461665"/>
          </a:xfrm>
          <a:prstGeom prst="rect">
            <a:avLst/>
          </a:prstGeom>
          <a:noFill/>
        </p:spPr>
        <p:txBody>
          <a:bodyPr wrap="square" rtlCol="0">
            <a:spAutoFit/>
          </a:bodyPr>
          <a:lstStyle/>
          <a:p>
            <a:pPr lvl="0">
              <a:spcAft>
                <a:spcPts val="1200"/>
              </a:spcAft>
              <a:defRPr/>
            </a:pPr>
            <a:r>
              <a:rPr lang="en-US" sz="2400" b="1" dirty="0">
                <a:solidFill>
                  <a:prstClr val="black"/>
                </a:solidFill>
              </a:rPr>
              <a:t>Available Libraries and Resources</a:t>
            </a:r>
          </a:p>
        </p:txBody>
      </p:sp>
      <p:sp>
        <p:nvSpPr>
          <p:cNvPr id="10" name="TextBox 9">
            <a:extLst>
              <a:ext uri="{FF2B5EF4-FFF2-40B4-BE49-F238E27FC236}">
                <a16:creationId xmlns:a16="http://schemas.microsoft.com/office/drawing/2014/main" id="{B3B26937-0C7B-2166-891F-DAD6B55AEB7C}"/>
              </a:ext>
            </a:extLst>
          </p:cNvPr>
          <p:cNvSpPr txBox="1"/>
          <p:nvPr/>
        </p:nvSpPr>
        <p:spPr>
          <a:xfrm>
            <a:off x="1982710" y="1801578"/>
            <a:ext cx="7985156" cy="5078313"/>
          </a:xfrm>
          <a:prstGeom prst="rect">
            <a:avLst/>
          </a:prstGeom>
          <a:noFill/>
        </p:spPr>
        <p:txBody>
          <a:bodyPr wrap="square" rtlCol="0">
            <a:spAutoFit/>
          </a:bodyPr>
          <a:lstStyle/>
          <a:p>
            <a:r>
              <a:rPr lang="en-US" sz="2000" b="1" i="1" u="sng" dirty="0" err="1">
                <a:hlinkClick r:id="rId2"/>
              </a:rPr>
              <a:t>EasyEdit</a:t>
            </a:r>
            <a:endParaRPr lang="en-US" sz="2400" b="1" dirty="0"/>
          </a:p>
          <a:p>
            <a:pPr fontAlgn="base"/>
            <a:r>
              <a:rPr lang="en-US" sz="1600" b="1" dirty="0"/>
              <a:t>Overview:</a:t>
            </a:r>
            <a:r>
              <a:rPr lang="en-US" sz="1600" dirty="0"/>
              <a:t> A comprehensive, easy-to-use unified framework for Knowledge Editing in LLMs. It supports altering model behavior efficiently within a specific domain without negatively impacting overall performance.</a:t>
            </a:r>
          </a:p>
          <a:p>
            <a:pPr fontAlgn="base"/>
            <a:r>
              <a:rPr lang="en-US" sz="1600" b="1" dirty="0"/>
              <a:t>Models Supported:</a:t>
            </a:r>
            <a:r>
              <a:rPr lang="en-US" sz="1600" dirty="0"/>
              <a:t> </a:t>
            </a:r>
            <a:r>
              <a:rPr lang="en-US" sz="1600" dirty="0" err="1"/>
              <a:t>LLaMA</a:t>
            </a:r>
            <a:r>
              <a:rPr lang="en-US" sz="1600" dirty="0"/>
              <a:t>, GPT-J, GPT-2, T5, and Mistral.</a:t>
            </a:r>
            <a:endParaRPr lang="he-IL" sz="1600" dirty="0"/>
          </a:p>
          <a:p>
            <a:pPr fontAlgn="base"/>
            <a:endParaRPr lang="en-US" sz="1600" dirty="0"/>
          </a:p>
          <a:p>
            <a:r>
              <a:rPr lang="en-US" sz="1600" b="1" u="sng" dirty="0"/>
              <a:t>Beyond </a:t>
            </a:r>
            <a:r>
              <a:rPr lang="en-US" sz="1600" b="1" u="sng" dirty="0" err="1"/>
              <a:t>EasyEdit</a:t>
            </a:r>
            <a:r>
              <a:rPr lang="en-US" sz="1600" b="1" u="sng" dirty="0"/>
              <a:t>, most KE tools are individual research implementations of specific methods rather than full multi-method libraries.</a:t>
            </a:r>
          </a:p>
          <a:p>
            <a:endParaRPr lang="he-IL" sz="1600" b="1" u="sng" dirty="0"/>
          </a:p>
          <a:p>
            <a:r>
              <a:rPr lang="en-US" sz="1600" b="1" dirty="0"/>
              <a:t>research implementations of </a:t>
            </a:r>
            <a:r>
              <a:rPr lang="en-US" sz="1600" b="1" dirty="0" err="1">
                <a:hlinkClick r:id="rId3">
                  <a:extLst>
                    <a:ext uri="{A12FA001-AC4F-418D-AE19-62706E023703}">
                      <ahyp:hlinkClr xmlns:ahyp="http://schemas.microsoft.com/office/drawing/2018/hyperlinkcolor" val="tx"/>
                    </a:ext>
                  </a:extLst>
                </a:hlinkClick>
              </a:rPr>
              <a:t>memit</a:t>
            </a:r>
            <a:r>
              <a:rPr lang="en-US" sz="1600" b="1" dirty="0"/>
              <a:t> </a:t>
            </a:r>
            <a:r>
              <a:rPr lang="en-US" sz="1600" dirty="0"/>
              <a:t>: </a:t>
            </a:r>
            <a:r>
              <a:rPr lang="en-US" sz="1600" dirty="0">
                <a:hlinkClick r:id="rId3"/>
              </a:rPr>
              <a:t>https://github.com/kmeng01/memit</a:t>
            </a:r>
            <a:endParaRPr lang="en-US" sz="1600" dirty="0"/>
          </a:p>
          <a:p>
            <a:r>
              <a:rPr lang="en-US" sz="1600" b="1" dirty="0"/>
              <a:t>research implementations of ROME</a:t>
            </a:r>
            <a:r>
              <a:rPr lang="en-US" sz="1600" dirty="0"/>
              <a:t>: </a:t>
            </a:r>
            <a:r>
              <a:rPr lang="en-US" sz="1600" dirty="0">
                <a:hlinkClick r:id="rId4"/>
              </a:rPr>
              <a:t>https://github.com/kmeng01/rome</a:t>
            </a:r>
            <a:endParaRPr lang="he-IL" sz="1600" dirty="0"/>
          </a:p>
          <a:p>
            <a:endParaRPr lang="en-US" dirty="0"/>
          </a:p>
          <a:p>
            <a:r>
              <a:rPr lang="en-US" b="1" dirty="0"/>
              <a:t>Library Selection:</a:t>
            </a:r>
            <a:endParaRPr lang="en-US" dirty="0"/>
          </a:p>
          <a:p>
            <a:r>
              <a:rPr lang="en-US" dirty="0"/>
              <a:t>We selected </a:t>
            </a:r>
            <a:r>
              <a:rPr lang="en-US" dirty="0" err="1"/>
              <a:t>EasyEdit</a:t>
            </a:r>
            <a:r>
              <a:rPr lang="en-US" dirty="0"/>
              <a:t> as our primary tool because it offers a comprehensive and modular framework that has already implemented and unified numerous state-of-the-art editing methods (e.g., ROME, MEND, MEMIT). Its unified syntax makes it significantly easier to use and compare different techniques against our specific code editing task.</a:t>
            </a:r>
          </a:p>
          <a:p>
            <a:endParaRPr kumimoji="0" lang="en-IL" sz="1800" b="0" i="0" u="none" strike="noStrike" kern="1200" cap="none" spc="0" normalizeH="0" baseline="0" noProof="0" dirty="0">
              <a:ln>
                <a:noFill/>
              </a:ln>
              <a:solidFill>
                <a:prstClr val="black"/>
              </a:solidFill>
              <a:effectLst/>
              <a:uLnTx/>
              <a:uFillTx/>
              <a:latin typeface="Univers Light"/>
              <a:ea typeface="+mn-ea"/>
              <a:cs typeface="+mn-cs"/>
            </a:endParaRPr>
          </a:p>
        </p:txBody>
      </p:sp>
    </p:spTree>
    <p:extLst>
      <p:ext uri="{BB962C8B-B14F-4D97-AF65-F5344CB8AC3E}">
        <p14:creationId xmlns:p14="http://schemas.microsoft.com/office/powerpoint/2010/main" val="48805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5AD83-4A09-94E8-C1B0-555DBFBAEC2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CD0C87-6DD6-33E6-25D6-2E178DF23CD3}"/>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393668E3-8146-0AD9-84BC-78CF5F511FB5}"/>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b="0" i="0" u="none" strike="noStrike" kern="1200" cap="none" spc="0" normalizeH="0" baseline="0" noProof="0" dirty="0">
              <a:ln>
                <a:noFill/>
              </a:ln>
              <a:solidFill>
                <a:prstClr val="black"/>
              </a:solidFill>
              <a:effectLst/>
              <a:uLnTx/>
              <a:uFillTx/>
              <a:latin typeface="Univers Light"/>
              <a:ea typeface="+mn-ea"/>
              <a:cs typeface="+mn-cs"/>
            </a:endParaRP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Building the Data Set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Knowledge Editing Overview</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1"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1"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C3EAE677-8A76-5CDD-8380-7AE12EAD067E}"/>
              </a:ext>
            </a:extLst>
          </p:cNvPr>
          <p:cNvSpPr txBox="1"/>
          <p:nvPr/>
        </p:nvSpPr>
        <p:spPr>
          <a:xfrm>
            <a:off x="1113576" y="181069"/>
            <a:ext cx="9144000" cy="769441"/>
          </a:xfrm>
          <a:prstGeom prst="rect">
            <a:avLst/>
          </a:prstGeom>
          <a:noFill/>
        </p:spPr>
        <p:txBody>
          <a:bodyPr wrap="square" rtlCol="0">
            <a:spAutoFit/>
          </a:bodyPr>
          <a:lstStyle/>
          <a:p>
            <a:pPr lvl="0">
              <a:spcAft>
                <a:spcPts val="1200"/>
              </a:spcAft>
              <a:defRPr/>
            </a:pPr>
            <a:r>
              <a:rPr lang="en-US" sz="4400" dirty="0">
                <a:solidFill>
                  <a:prstClr val="black"/>
                </a:solidFill>
              </a:rPr>
              <a:t>Evaluation -</a:t>
            </a:r>
          </a:p>
        </p:txBody>
      </p:sp>
      <p:sp>
        <p:nvSpPr>
          <p:cNvPr id="2" name="TextBox 1">
            <a:extLst>
              <a:ext uri="{FF2B5EF4-FFF2-40B4-BE49-F238E27FC236}">
                <a16:creationId xmlns:a16="http://schemas.microsoft.com/office/drawing/2014/main" id="{3071B10B-1DAA-BAAF-4631-55695B7FDE7B}"/>
              </a:ext>
            </a:extLst>
          </p:cNvPr>
          <p:cNvSpPr txBox="1"/>
          <p:nvPr/>
        </p:nvSpPr>
        <p:spPr>
          <a:xfrm>
            <a:off x="1494809" y="1719951"/>
            <a:ext cx="9473986" cy="4678204"/>
          </a:xfrm>
          <a:prstGeom prst="rect">
            <a:avLst/>
          </a:prstGeom>
          <a:noFill/>
        </p:spPr>
        <p:txBody>
          <a:bodyPr wrap="square" rtlCol="0">
            <a:spAutoFit/>
          </a:bodyPr>
          <a:lstStyle/>
          <a:p>
            <a:r>
              <a:rPr lang="en-US" sz="1600" b="1" dirty="0"/>
              <a:t>Reliability Check: New Fact Validation</a:t>
            </a:r>
          </a:p>
          <a:p>
            <a:r>
              <a:rPr lang="en-US" sz="1600" b="1" dirty="0"/>
              <a:t>Goal:</a:t>
            </a:r>
            <a:r>
              <a:rPr lang="en-US" sz="1600" dirty="0"/>
              <a:t> Confirm that the new information was successfully injected into the model.</a:t>
            </a:r>
            <a:br>
              <a:rPr lang="en-US" sz="1600" dirty="0"/>
            </a:br>
            <a:r>
              <a:rPr lang="en-US" sz="1600" b="1" dirty="0"/>
              <a:t>Method:</a:t>
            </a:r>
            <a:r>
              <a:rPr lang="en-US" sz="1600" dirty="0"/>
              <a:t> Substring / Pattern Matching</a:t>
            </a:r>
            <a:br>
              <a:rPr lang="en-US" sz="1600" dirty="0"/>
            </a:br>
            <a:r>
              <a:rPr lang="en-US" sz="1600" b="1" dirty="0"/>
              <a:t>Action:</a:t>
            </a:r>
            <a:r>
              <a:rPr lang="en-US" sz="1600" dirty="0"/>
              <a:t> Verify that the exact required string (</a:t>
            </a:r>
            <a:r>
              <a:rPr lang="en-US" dirty="0" err="1"/>
              <a:t>target_new</a:t>
            </a:r>
            <a:r>
              <a:rPr lang="en-US" sz="1600" dirty="0"/>
              <a:t>) appears in the model output (</a:t>
            </a:r>
            <a:r>
              <a:rPr lang="en-US" dirty="0" err="1"/>
              <a:t>model_output</a:t>
            </a:r>
            <a:r>
              <a:rPr lang="en-US" sz="1600" dirty="0"/>
              <a:t>).</a:t>
            </a:r>
          </a:p>
          <a:p>
            <a:pPr fontAlgn="base"/>
            <a:r>
              <a:rPr lang="en-US" sz="1600" b="1" dirty="0"/>
              <a:t>Formula:</a:t>
            </a:r>
          </a:p>
          <a:p>
            <a:pPr fontAlgn="base"/>
            <a:endParaRPr lang="en-US" sz="1600" dirty="0"/>
          </a:p>
          <a:p>
            <a:r>
              <a:rPr lang="en-US" b="1" dirty="0"/>
              <a:t>Locality Check: Context Preservation</a:t>
            </a:r>
            <a:br>
              <a:rPr lang="en-US" b="1" dirty="0"/>
            </a:br>
            <a:r>
              <a:rPr lang="en-US" sz="1600" b="1" dirty="0"/>
              <a:t>Goal:</a:t>
            </a:r>
            <a:r>
              <a:rPr lang="en-US" sz="1600" dirty="0"/>
              <a:t> Ensure the surrounding context remains coherent, relevant, and unchanged.</a:t>
            </a:r>
          </a:p>
          <a:p>
            <a:pPr fontAlgn="base"/>
            <a:r>
              <a:rPr lang="en-US" sz="1600" b="1" dirty="0"/>
              <a:t>Method:</a:t>
            </a:r>
            <a:r>
              <a:rPr lang="en-US" sz="1600" dirty="0"/>
              <a:t> </a:t>
            </a:r>
            <a:r>
              <a:rPr lang="en-US" sz="1600" b="1" dirty="0"/>
              <a:t>Semantic Similarity Metrics</a:t>
            </a:r>
            <a:r>
              <a:rPr lang="en-US" sz="1600" dirty="0"/>
              <a:t> ( </a:t>
            </a:r>
            <a:r>
              <a:rPr lang="en-US" sz="1600" dirty="0" err="1"/>
              <a:t>model_output</a:t>
            </a:r>
            <a:r>
              <a:rPr lang="en-US" sz="1600" dirty="0"/>
              <a:t> vs. </a:t>
            </a:r>
            <a:r>
              <a:rPr lang="en-US" sz="1600" dirty="0" err="1"/>
              <a:t>full_target_new</a:t>
            </a:r>
            <a:r>
              <a:rPr lang="en-US" sz="1600" dirty="0"/>
              <a:t>).</a:t>
            </a:r>
          </a:p>
          <a:p>
            <a:pPr fontAlgn="base"/>
            <a:r>
              <a:rPr lang="en-US" sz="1600" b="1" dirty="0"/>
              <a:t>Key Tools:</a:t>
            </a:r>
            <a:endParaRPr lang="en-US" sz="1600" dirty="0"/>
          </a:p>
          <a:p>
            <a:pPr lvl="1" fontAlgn="base"/>
            <a:r>
              <a:rPr lang="en-US" sz="1600" b="1" dirty="0" err="1"/>
              <a:t>BERTScore</a:t>
            </a:r>
            <a:r>
              <a:rPr lang="en-US" sz="1600" b="1" dirty="0"/>
              <a:t>:</a:t>
            </a:r>
            <a:r>
              <a:rPr lang="en-US" sz="1600" dirty="0"/>
              <a:t> Measures the semantic closeness of the output to the ideal full target. (Cosine Similarity)</a:t>
            </a:r>
            <a:br>
              <a:rPr lang="en-US" sz="1600" dirty="0"/>
            </a:br>
            <a:r>
              <a:rPr lang="en-US" sz="1600" dirty="0"/>
              <a:t>Formula (Cosine Similarity basis):</a:t>
            </a:r>
            <a:br>
              <a:rPr lang="en-US" sz="1600" dirty="0"/>
            </a:br>
            <a:r>
              <a:rPr lang="en-US" sz="1600" dirty="0"/>
              <a:t>(e1 and e2 are the token embeddings from the two texts.)</a:t>
            </a:r>
            <a:endParaRPr lang="he-IL" sz="1600" dirty="0"/>
          </a:p>
          <a:p>
            <a:pPr lvl="1" fontAlgn="base"/>
            <a:endParaRPr lang="en-US" sz="1600" dirty="0"/>
          </a:p>
          <a:p>
            <a:br>
              <a:rPr lang="en-US" dirty="0"/>
            </a:br>
            <a:endParaRPr lang="en-IL" dirty="0"/>
          </a:p>
        </p:txBody>
      </p:sp>
      <p:sp>
        <p:nvSpPr>
          <p:cNvPr id="3" name="TextBox 2">
            <a:extLst>
              <a:ext uri="{FF2B5EF4-FFF2-40B4-BE49-F238E27FC236}">
                <a16:creationId xmlns:a16="http://schemas.microsoft.com/office/drawing/2014/main" id="{968E814E-F66F-B18A-8DA0-BCA7A1327269}"/>
              </a:ext>
            </a:extLst>
          </p:cNvPr>
          <p:cNvSpPr txBox="1"/>
          <p:nvPr/>
        </p:nvSpPr>
        <p:spPr>
          <a:xfrm>
            <a:off x="1699034" y="950510"/>
            <a:ext cx="9696261" cy="461665"/>
          </a:xfrm>
          <a:prstGeom prst="rect">
            <a:avLst/>
          </a:prstGeom>
          <a:noFill/>
        </p:spPr>
        <p:txBody>
          <a:bodyPr wrap="square" rtlCol="0">
            <a:spAutoFit/>
          </a:bodyPr>
          <a:lstStyle/>
          <a:p>
            <a:r>
              <a:rPr lang="en-US" sz="2400" dirty="0" err="1">
                <a:solidFill>
                  <a:prstClr val="black"/>
                </a:solidFill>
              </a:rPr>
              <a:t>kpi’s</a:t>
            </a:r>
            <a:r>
              <a:rPr lang="he-IL" sz="2400" dirty="0">
                <a:solidFill>
                  <a:prstClr val="black"/>
                </a:solidFill>
              </a:rPr>
              <a:t> </a:t>
            </a:r>
            <a:r>
              <a:rPr lang="en-US" sz="2400" dirty="0">
                <a:solidFill>
                  <a:prstClr val="black"/>
                </a:solidFill>
              </a:rPr>
              <a:t>for Reliability</a:t>
            </a:r>
          </a:p>
        </p:txBody>
      </p:sp>
    </p:spTree>
    <p:extLst>
      <p:ext uri="{BB962C8B-B14F-4D97-AF65-F5344CB8AC3E}">
        <p14:creationId xmlns:p14="http://schemas.microsoft.com/office/powerpoint/2010/main" val="3326621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CFD26-DFC0-CFA8-F239-038F7DC19B0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DA4401-CB3B-2F98-86B9-95AD08D0C2A0}"/>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5" name="Content Placeholder 2">
            <a:extLst>
              <a:ext uri="{FF2B5EF4-FFF2-40B4-BE49-F238E27FC236}">
                <a16:creationId xmlns:a16="http://schemas.microsoft.com/office/drawing/2014/main" id="{05A9FBF4-221E-44E1-2CE5-7B4B1E535C1E}"/>
              </a:ext>
            </a:extLst>
          </p:cNvPr>
          <p:cNvSpPr txBox="1">
            <a:spLocks/>
          </p:cNvSpPr>
          <p:nvPr/>
        </p:nvSpPr>
        <p:spPr>
          <a:xfrm>
            <a:off x="64174" y="461726"/>
            <a:ext cx="832453" cy="5407091"/>
          </a:xfrm>
          <a:prstGeom prst="rect">
            <a:avLst/>
          </a:prstGeom>
        </p:spPr>
        <p:txBody>
          <a:bodyPr vert="horz" lIns="0" tIns="0" rIns="0" bIns="0" rtlCol="0" anchor="ct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Motivation</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Project Task Description</a:t>
            </a:r>
            <a:endParaRPr kumimoji="0" lang="he-IL" sz="1000" b="0" i="0" u="none" strike="noStrike" kern="1200" cap="none" spc="0" normalizeH="0" baseline="0" noProof="0" dirty="0">
              <a:ln>
                <a:noFill/>
              </a:ln>
              <a:solidFill>
                <a:prstClr val="black"/>
              </a:solidFill>
              <a:effectLst/>
              <a:uLnTx/>
              <a:uFillTx/>
              <a:latin typeface="Univers Light"/>
              <a:ea typeface="+mn-ea"/>
              <a:cs typeface="+mn-cs"/>
            </a:endParaRP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Building the Data Set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Knowledge Editing Overview</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Univers Light"/>
                <a:ea typeface="+mn-ea"/>
                <a:cs typeface="+mn-cs"/>
              </a:rPr>
              <a:t>Available Libraries and Resources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dirty="0">
                <a:ln>
                  <a:noFill/>
                </a:ln>
                <a:solidFill>
                  <a:prstClr val="black"/>
                </a:solidFill>
                <a:effectLst/>
                <a:uLnTx/>
                <a:uFillTx/>
                <a:latin typeface="Univers Light"/>
                <a:ea typeface="+mn-ea"/>
                <a:cs typeface="+mn-cs"/>
              </a:rPr>
              <a:t>Evaluation of Knowledge Editing -</a:t>
            </a:r>
            <a:r>
              <a:rPr kumimoji="0" lang="en-US" sz="1000" b="1" i="0" u="none" strike="noStrike" kern="1200" cap="none" spc="0" normalizeH="0" baseline="0" noProof="0" dirty="0" err="1">
                <a:ln>
                  <a:noFill/>
                </a:ln>
                <a:solidFill>
                  <a:prstClr val="black"/>
                </a:solidFill>
                <a:effectLst/>
                <a:uLnTx/>
                <a:uFillTx/>
                <a:latin typeface="Univers Light"/>
                <a:ea typeface="+mn-ea"/>
                <a:cs typeface="+mn-cs"/>
              </a:rPr>
              <a:t>kpi’s</a:t>
            </a:r>
            <a:endParaRPr kumimoji="0" lang="en-US" sz="1000" b="1" i="0" u="none" strike="noStrike" kern="1200" cap="none" spc="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9BF55801-351D-46BD-A4DC-EAA550493C52}"/>
              </a:ext>
            </a:extLst>
          </p:cNvPr>
          <p:cNvSpPr txBox="1"/>
          <p:nvPr/>
        </p:nvSpPr>
        <p:spPr>
          <a:xfrm>
            <a:off x="1113576" y="181069"/>
            <a:ext cx="9144000"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Univers Light"/>
                <a:ea typeface="+mn-ea"/>
                <a:cs typeface="+mn-cs"/>
              </a:rPr>
              <a:t>Evaluation -</a:t>
            </a:r>
          </a:p>
        </p:txBody>
      </p:sp>
      <p:sp>
        <p:nvSpPr>
          <p:cNvPr id="2" name="TextBox 1">
            <a:extLst>
              <a:ext uri="{FF2B5EF4-FFF2-40B4-BE49-F238E27FC236}">
                <a16:creationId xmlns:a16="http://schemas.microsoft.com/office/drawing/2014/main" id="{6FAA866C-DC03-A3B8-8998-9D9CC901C59F}"/>
              </a:ext>
            </a:extLst>
          </p:cNvPr>
          <p:cNvSpPr txBox="1"/>
          <p:nvPr/>
        </p:nvSpPr>
        <p:spPr>
          <a:xfrm>
            <a:off x="1494809" y="1719951"/>
            <a:ext cx="9473986" cy="510909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Univers Light"/>
                <a:ea typeface="+mn-ea"/>
                <a:cs typeface="+mn-cs"/>
              </a:rPr>
              <a:t>Locality Check: Context Preservation</a:t>
            </a:r>
            <a:br>
              <a:rPr kumimoji="0" lang="en-US" sz="1800" b="1" i="0" u="none" strike="noStrike" kern="1200" cap="none" spc="0" normalizeH="0" baseline="0" noProof="0" dirty="0">
                <a:ln>
                  <a:noFill/>
                </a:ln>
                <a:solidFill>
                  <a:prstClr val="black"/>
                </a:solidFill>
                <a:effectLst/>
                <a:uLnTx/>
                <a:uFillTx/>
                <a:latin typeface="Univers Light"/>
                <a:ea typeface="+mn-ea"/>
                <a:cs typeface="+mn-cs"/>
              </a:rPr>
            </a:br>
            <a:r>
              <a:rPr kumimoji="0" lang="en-US" sz="1600" b="1" i="0" u="none" strike="noStrike" kern="1200" cap="none" spc="0" normalizeH="0" baseline="0" noProof="0" dirty="0">
                <a:ln>
                  <a:noFill/>
                </a:ln>
                <a:solidFill>
                  <a:prstClr val="black"/>
                </a:solidFill>
                <a:effectLst/>
                <a:uLnTx/>
                <a:uFillTx/>
                <a:latin typeface="Univers Light"/>
                <a:ea typeface="+mn-ea"/>
                <a:cs typeface="+mn-cs"/>
              </a:rPr>
              <a:t>Goal:</a:t>
            </a:r>
            <a:r>
              <a:rPr kumimoji="0" lang="en-US" sz="1600" b="0" i="0" u="none" strike="noStrike" kern="1200" cap="none" spc="0" normalizeH="0" baseline="0" noProof="0" dirty="0">
                <a:ln>
                  <a:noFill/>
                </a:ln>
                <a:solidFill>
                  <a:prstClr val="black"/>
                </a:solidFill>
                <a:effectLst/>
                <a:uLnTx/>
                <a:uFillTx/>
                <a:latin typeface="Univers Light"/>
                <a:ea typeface="+mn-ea"/>
                <a:cs typeface="+mn-cs"/>
              </a:rPr>
              <a:t> Ensure the surrounding context remains coherent, relevant, and unchanged.</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Univers Light"/>
                <a:ea typeface="+mn-ea"/>
                <a:cs typeface="+mn-cs"/>
              </a:rPr>
              <a:t>Method:</a:t>
            </a:r>
            <a:r>
              <a:rPr kumimoji="0" lang="en-US" sz="1600" b="0" i="0" u="none" strike="noStrike" kern="1200" cap="none" spc="0" normalizeH="0" baseline="0" noProof="0" dirty="0">
                <a:ln>
                  <a:noFill/>
                </a:ln>
                <a:solidFill>
                  <a:prstClr val="black"/>
                </a:solidFill>
                <a:effectLst/>
                <a:uLnTx/>
                <a:uFillTx/>
                <a:latin typeface="Univers Light"/>
                <a:ea typeface="+mn-ea"/>
                <a:cs typeface="+mn-cs"/>
              </a:rPr>
              <a:t> </a:t>
            </a:r>
            <a:r>
              <a:rPr kumimoji="0" lang="en-US" sz="1600" b="1" i="0" u="none" strike="noStrike" kern="1200" cap="none" spc="0" normalizeH="0" baseline="0" noProof="0" dirty="0">
                <a:ln>
                  <a:noFill/>
                </a:ln>
                <a:solidFill>
                  <a:prstClr val="black"/>
                </a:solidFill>
                <a:effectLst/>
                <a:uLnTx/>
                <a:uFillTx/>
                <a:latin typeface="Univers Light"/>
                <a:ea typeface="+mn-ea"/>
                <a:cs typeface="+mn-cs"/>
              </a:rPr>
              <a:t>Semantic Similarity Metrics</a:t>
            </a:r>
            <a:r>
              <a:rPr kumimoji="0" lang="en-US" sz="1600" b="0" i="0" u="none" strike="noStrike" kern="1200" cap="none" spc="0" normalizeH="0" baseline="0" noProof="0" dirty="0">
                <a:ln>
                  <a:noFill/>
                </a:ln>
                <a:solidFill>
                  <a:prstClr val="black"/>
                </a:solidFill>
                <a:effectLst/>
                <a:uLnTx/>
                <a:uFillTx/>
                <a:latin typeface="Univers Light"/>
                <a:ea typeface="+mn-ea"/>
                <a:cs typeface="+mn-cs"/>
              </a:rPr>
              <a:t> ( </a:t>
            </a:r>
            <a:r>
              <a:rPr kumimoji="0" lang="en-US" sz="1600" b="0" i="0" u="none" strike="noStrike" kern="1200" cap="none" spc="0" normalizeH="0" baseline="0" noProof="0" dirty="0" err="1">
                <a:ln>
                  <a:noFill/>
                </a:ln>
                <a:solidFill>
                  <a:prstClr val="black"/>
                </a:solidFill>
                <a:effectLst/>
                <a:uLnTx/>
                <a:uFillTx/>
                <a:latin typeface="Univers Light"/>
                <a:ea typeface="+mn-ea"/>
                <a:cs typeface="+mn-cs"/>
              </a:rPr>
              <a:t>model_output</a:t>
            </a:r>
            <a:r>
              <a:rPr kumimoji="0" lang="en-US" sz="1600" b="0" i="0" u="none" strike="noStrike" kern="1200" cap="none" spc="0" normalizeH="0" baseline="0" noProof="0" dirty="0">
                <a:ln>
                  <a:noFill/>
                </a:ln>
                <a:solidFill>
                  <a:prstClr val="black"/>
                </a:solidFill>
                <a:effectLst/>
                <a:uLnTx/>
                <a:uFillTx/>
                <a:latin typeface="Univers Light"/>
                <a:ea typeface="+mn-ea"/>
                <a:cs typeface="+mn-cs"/>
              </a:rPr>
              <a:t> vs. </a:t>
            </a:r>
            <a:r>
              <a:rPr kumimoji="0" lang="en-US" sz="1600" b="0" i="0" u="none" strike="noStrike" kern="1200" cap="none" spc="0" normalizeH="0" baseline="0" noProof="0" dirty="0" err="1">
                <a:ln>
                  <a:noFill/>
                </a:ln>
                <a:solidFill>
                  <a:prstClr val="black"/>
                </a:solidFill>
                <a:effectLst/>
                <a:uLnTx/>
                <a:uFillTx/>
                <a:latin typeface="Univers Light"/>
                <a:ea typeface="+mn-ea"/>
                <a:cs typeface="+mn-cs"/>
              </a:rPr>
              <a:t>full_target_new</a:t>
            </a:r>
            <a:r>
              <a:rPr kumimoji="0" lang="en-US" sz="1600" b="0" i="0" u="none" strike="noStrike" kern="1200" cap="none" spc="0" normalizeH="0" baseline="0" noProof="0" dirty="0">
                <a:ln>
                  <a:noFill/>
                </a:ln>
                <a:solidFill>
                  <a:prstClr val="black"/>
                </a:solidFill>
                <a:effectLst/>
                <a:uLnTx/>
                <a:uFillTx/>
                <a:latin typeface="Univers Light"/>
                <a:ea typeface="+mn-ea"/>
                <a:cs typeface="+mn-cs"/>
              </a:rPr>
              <a: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Univers Light"/>
                <a:ea typeface="+mn-ea"/>
                <a:cs typeface="+mn-cs"/>
              </a:rPr>
              <a:t>Key Tools:</a:t>
            </a:r>
            <a:endParaRPr kumimoji="0" lang="en-US" sz="1600" b="0" i="0" u="none" strike="noStrike" kern="1200" cap="none" spc="0" normalizeH="0" baseline="0" noProof="0" dirty="0">
              <a:ln>
                <a:noFill/>
              </a:ln>
              <a:solidFill>
                <a:prstClr val="black"/>
              </a:solidFill>
              <a:effectLst/>
              <a:uLnTx/>
              <a:uFillTx/>
              <a:latin typeface="Univers Light"/>
              <a:ea typeface="+mn-ea"/>
              <a:cs typeface="+mn-cs"/>
            </a:endParaRPr>
          </a:p>
          <a:p>
            <a:pPr marL="457200" marR="0" lvl="1" indent="0" algn="l" defTabSz="914400" rtl="0" eaLnBrk="1" fontAlgn="base"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prstClr val="black"/>
                </a:solidFill>
                <a:effectLst/>
                <a:uLnTx/>
                <a:uFillTx/>
                <a:latin typeface="Univers Light"/>
                <a:ea typeface="+mn-ea"/>
                <a:cs typeface="+mn-cs"/>
              </a:rPr>
              <a:t>BERTScore</a:t>
            </a:r>
            <a:r>
              <a:rPr kumimoji="0" lang="en-US" sz="1600" b="1" i="0" u="none" strike="noStrike" kern="1200" cap="none" spc="0" normalizeH="0" baseline="0" noProof="0" dirty="0">
                <a:ln>
                  <a:noFill/>
                </a:ln>
                <a:solidFill>
                  <a:prstClr val="black"/>
                </a:solidFill>
                <a:effectLst/>
                <a:uLnTx/>
                <a:uFillTx/>
                <a:latin typeface="Univers Light"/>
                <a:ea typeface="+mn-ea"/>
                <a:cs typeface="+mn-cs"/>
              </a:rPr>
              <a:t>:</a:t>
            </a:r>
            <a:r>
              <a:rPr kumimoji="0" lang="en-US" sz="1600" b="0" i="0" u="none" strike="noStrike" kern="1200" cap="none" spc="0" normalizeH="0" baseline="0" noProof="0" dirty="0">
                <a:ln>
                  <a:noFill/>
                </a:ln>
                <a:solidFill>
                  <a:prstClr val="black"/>
                </a:solidFill>
                <a:effectLst/>
                <a:uLnTx/>
                <a:uFillTx/>
                <a:latin typeface="Univers Light"/>
                <a:ea typeface="+mn-ea"/>
                <a:cs typeface="+mn-cs"/>
              </a:rPr>
              <a:t> Measures the semantic closeness of the output to the ideal full target. (Cosine Similarity)</a:t>
            </a:r>
            <a:br>
              <a:rPr kumimoji="0" lang="en-US" sz="1600" b="0" i="0" u="none" strike="noStrike" kern="1200" cap="none" spc="0" normalizeH="0" baseline="0" noProof="0" dirty="0">
                <a:ln>
                  <a:noFill/>
                </a:ln>
                <a:solidFill>
                  <a:prstClr val="black"/>
                </a:solidFill>
                <a:effectLst/>
                <a:uLnTx/>
                <a:uFillTx/>
                <a:latin typeface="Univers Light"/>
                <a:ea typeface="+mn-ea"/>
                <a:cs typeface="+mn-cs"/>
              </a:rPr>
            </a:br>
            <a:r>
              <a:rPr kumimoji="0" lang="en-US" sz="1600" b="0" i="0" u="none" strike="noStrike" kern="1200" cap="none" spc="0" normalizeH="0" baseline="0" noProof="0" dirty="0">
                <a:ln>
                  <a:noFill/>
                </a:ln>
                <a:solidFill>
                  <a:prstClr val="black"/>
                </a:solidFill>
                <a:effectLst/>
                <a:uLnTx/>
                <a:uFillTx/>
                <a:latin typeface="Univers Light"/>
                <a:ea typeface="+mn-ea"/>
                <a:cs typeface="+mn-cs"/>
              </a:rPr>
              <a:t>Formula (Cosine Similarity basis):</a:t>
            </a:r>
            <a:br>
              <a:rPr kumimoji="0" lang="en-US" sz="1600" b="0" i="0" u="none" strike="noStrike" kern="1200" cap="none" spc="0" normalizeH="0" baseline="0" noProof="0" dirty="0">
                <a:ln>
                  <a:noFill/>
                </a:ln>
                <a:solidFill>
                  <a:prstClr val="black"/>
                </a:solidFill>
                <a:effectLst/>
                <a:uLnTx/>
                <a:uFillTx/>
                <a:latin typeface="Univers Light"/>
                <a:ea typeface="+mn-ea"/>
                <a:cs typeface="+mn-cs"/>
              </a:rPr>
            </a:br>
            <a:r>
              <a:rPr kumimoji="0" lang="en-US" sz="1600" b="0" i="0" u="none" strike="noStrike" kern="1200" cap="none" spc="0" normalizeH="0" baseline="0" noProof="0" dirty="0">
                <a:ln>
                  <a:noFill/>
                </a:ln>
                <a:solidFill>
                  <a:prstClr val="black"/>
                </a:solidFill>
                <a:effectLst/>
                <a:uLnTx/>
                <a:uFillTx/>
                <a:latin typeface="Univers Light"/>
                <a:ea typeface="+mn-ea"/>
                <a:cs typeface="+mn-cs"/>
              </a:rPr>
              <a:t>(e1 and e2 are the token embeddings from the two texts.)</a:t>
            </a:r>
            <a:endParaRPr kumimoji="0" lang="he-IL" sz="1600" b="0" i="0" u="none" strike="noStrike" kern="1200" cap="none" spc="0" normalizeH="0" baseline="0" noProof="0" dirty="0">
              <a:ln>
                <a:noFill/>
              </a:ln>
              <a:solidFill>
                <a:prstClr val="black"/>
              </a:solidFill>
              <a:effectLst/>
              <a:uLnTx/>
              <a:uFillTx/>
              <a:latin typeface="Univers Light"/>
              <a:ea typeface="+mn-ea"/>
              <a:cs typeface="+mn-cs"/>
            </a:endParaRPr>
          </a:p>
          <a:p>
            <a:pPr marL="457200" marR="0" lvl="1" indent="0" algn="l" defTabSz="914400"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Univers Light"/>
              <a:ea typeface="+mn-ea"/>
              <a:cs typeface="+mn-cs"/>
            </a:endParaRPr>
          </a:p>
          <a:p>
            <a:r>
              <a:rPr lang="en-US" b="1" dirty="0"/>
              <a:t>AST Similarity (Structural Preservation Metric)</a:t>
            </a:r>
          </a:p>
          <a:p>
            <a:r>
              <a:rPr lang="en-US" dirty="0"/>
              <a:t>Evaluates whether the underlying code structure remains intact—critical for code-model Knowledge Editing.</a:t>
            </a:r>
          </a:p>
          <a:p>
            <a:r>
              <a:rPr lang="en-US" b="1" dirty="0"/>
              <a:t>Method:</a:t>
            </a:r>
            <a:r>
              <a:rPr lang="en-US" dirty="0"/>
              <a:t> Tree Edit Distance (TED) or Node Overlap.</a:t>
            </a:r>
          </a:p>
          <a:p>
            <a:r>
              <a:rPr lang="en-US" b="1" dirty="0"/>
              <a:t>Formula (TED-based):</a:t>
            </a:r>
            <a:endParaRPr lang="en-US" dirty="0"/>
          </a:p>
          <a:p>
            <a:r>
              <a:rPr lang="en-US" b="1" dirty="0"/>
              <a:t>Interpretation:</a:t>
            </a:r>
            <a:endParaRPr lang="en-US" dirty="0"/>
          </a:p>
          <a:p>
            <a:r>
              <a:rPr lang="en-US" dirty="0"/>
              <a:t>High AST → the code structure is preserved; </a:t>
            </a:r>
          </a:p>
          <a:p>
            <a:r>
              <a:rPr lang="en-US" dirty="0"/>
              <a:t>Low AST → the edit altered the flow or logic.</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dirty="0">
                <a:ln>
                  <a:noFill/>
                </a:ln>
                <a:solidFill>
                  <a:prstClr val="black"/>
                </a:solidFill>
                <a:effectLst/>
                <a:uLnTx/>
                <a:uFillTx/>
                <a:latin typeface="Univers Light"/>
                <a:ea typeface="+mn-ea"/>
                <a:cs typeface="+mn-cs"/>
              </a:rPr>
            </a:br>
            <a:endParaRPr kumimoji="0" lang="en-IL" sz="18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3" name="TextBox 2">
            <a:extLst>
              <a:ext uri="{FF2B5EF4-FFF2-40B4-BE49-F238E27FC236}">
                <a16:creationId xmlns:a16="http://schemas.microsoft.com/office/drawing/2014/main" id="{BAD0844B-FD65-8FF2-1713-86375FF80C8B}"/>
              </a:ext>
            </a:extLst>
          </p:cNvPr>
          <p:cNvSpPr txBox="1"/>
          <p:nvPr/>
        </p:nvSpPr>
        <p:spPr>
          <a:xfrm>
            <a:off x="1699034" y="950510"/>
            <a:ext cx="9696261" cy="461665"/>
          </a:xfrm>
          <a:prstGeom prst="rect">
            <a:avLst/>
          </a:prstGeom>
          <a:noFill/>
        </p:spPr>
        <p:txBody>
          <a:bodyPr wrap="square" rtlCol="0">
            <a:spAutoFit/>
          </a:bodyPr>
          <a:lstStyle/>
          <a:p>
            <a:pPr lvl="0"/>
            <a:r>
              <a:rPr kumimoji="0" lang="en-US" sz="2400" b="0" i="0" u="none" strike="noStrike" kern="1200" cap="none" spc="0" normalizeH="0" baseline="0" noProof="0" dirty="0" err="1">
                <a:ln>
                  <a:noFill/>
                </a:ln>
                <a:solidFill>
                  <a:prstClr val="black"/>
                </a:solidFill>
                <a:effectLst/>
                <a:uLnTx/>
                <a:uFillTx/>
                <a:latin typeface="Univers Light"/>
                <a:ea typeface="+mn-ea"/>
                <a:cs typeface="+mn-cs"/>
              </a:rPr>
              <a:t>kpi’s</a:t>
            </a:r>
            <a:r>
              <a:rPr kumimoji="0" lang="he-IL" sz="2400" b="0" i="0" u="none" strike="noStrike" kern="1200" cap="none" spc="0" normalizeH="0" baseline="0" noProof="0" dirty="0">
                <a:ln>
                  <a:noFill/>
                </a:ln>
                <a:solidFill>
                  <a:prstClr val="black"/>
                </a:solidFill>
                <a:effectLst/>
                <a:uLnTx/>
                <a:uFillTx/>
                <a:latin typeface="Univers Light"/>
                <a:ea typeface="+mn-ea"/>
                <a:cs typeface="+mn-cs"/>
              </a:rPr>
              <a:t> </a:t>
            </a:r>
            <a:r>
              <a:rPr lang="en-US" sz="2400" dirty="0">
                <a:solidFill>
                  <a:prstClr val="black"/>
                </a:solidFill>
                <a:latin typeface="Univers Light"/>
              </a:rPr>
              <a:t>for Locality</a:t>
            </a:r>
          </a:p>
        </p:txBody>
      </p:sp>
    </p:spTree>
    <p:extLst>
      <p:ext uri="{BB962C8B-B14F-4D97-AF65-F5344CB8AC3E}">
        <p14:creationId xmlns:p14="http://schemas.microsoft.com/office/powerpoint/2010/main" val="672775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B0F40-672D-D2B3-6F10-C06EE12F72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D31EEB-A540-F711-0E65-C180BD085FBF}"/>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74DD8095-F22F-88D2-7A0A-865E8C6BD1BC}"/>
              </a:ext>
            </a:extLst>
          </p:cNvPr>
          <p:cNvSpPr txBox="1"/>
          <p:nvPr/>
        </p:nvSpPr>
        <p:spPr>
          <a:xfrm>
            <a:off x="1113576" y="181069"/>
            <a:ext cx="9144000" cy="1077218"/>
          </a:xfrm>
          <a:prstGeom prst="rect">
            <a:avLst/>
          </a:prstGeom>
          <a:noFill/>
        </p:spPr>
        <p:txBody>
          <a:bodyPr wrap="square" rtlCol="0">
            <a:spAutoFit/>
          </a:bodyPr>
          <a:lstStyle/>
          <a:p>
            <a:r>
              <a:rPr lang="en-US" sz="4400" dirty="0"/>
              <a:t>Appendix A - </a:t>
            </a:r>
            <a:r>
              <a:rPr lang="en-US" sz="4400" dirty="0">
                <a:solidFill>
                  <a:prstClr val="black"/>
                </a:solidFill>
              </a:rPr>
              <a:t>ROME</a:t>
            </a:r>
            <a:r>
              <a:rPr lang="en-US" sz="4400" dirty="0"/>
              <a:t> </a:t>
            </a:r>
            <a:r>
              <a:rPr lang="en-US" sz="4400" dirty="0">
                <a:solidFill>
                  <a:prstClr val="black"/>
                </a:solidFill>
              </a:rPr>
              <a:t>(1)</a:t>
            </a:r>
            <a:endParaRPr lang="en-US" sz="4400" dirty="0"/>
          </a:p>
          <a:p>
            <a:endParaRPr lang="en-US" sz="2000" dirty="0">
              <a:solidFill>
                <a:prstClr val="black"/>
              </a:solidFill>
              <a:latin typeface="Univers Light"/>
            </a:endParaRPr>
          </a:p>
        </p:txBody>
      </p:sp>
      <p:sp>
        <p:nvSpPr>
          <p:cNvPr id="2" name="TextBox 1">
            <a:extLst>
              <a:ext uri="{FF2B5EF4-FFF2-40B4-BE49-F238E27FC236}">
                <a16:creationId xmlns:a16="http://schemas.microsoft.com/office/drawing/2014/main" id="{37AE25BC-6063-03FC-949A-6A13C8639102}"/>
              </a:ext>
            </a:extLst>
          </p:cNvPr>
          <p:cNvSpPr txBox="1"/>
          <p:nvPr/>
        </p:nvSpPr>
        <p:spPr>
          <a:xfrm>
            <a:off x="1494809" y="1719951"/>
            <a:ext cx="947398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dirty="0">
                <a:ln>
                  <a:noFill/>
                </a:ln>
                <a:solidFill>
                  <a:prstClr val="black"/>
                </a:solidFill>
                <a:effectLst/>
                <a:uLnTx/>
                <a:uFillTx/>
                <a:latin typeface="Univers Light"/>
                <a:ea typeface="+mn-ea"/>
                <a:cs typeface="+mn-cs"/>
              </a:rPr>
            </a:br>
            <a:endParaRPr kumimoji="0" lang="en-IL" sz="18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7" name="TextBox 6">
            <a:extLst>
              <a:ext uri="{FF2B5EF4-FFF2-40B4-BE49-F238E27FC236}">
                <a16:creationId xmlns:a16="http://schemas.microsoft.com/office/drawing/2014/main" id="{1570DD1A-A2DB-085E-7FDF-A9212A32FD6A}"/>
              </a:ext>
            </a:extLst>
          </p:cNvPr>
          <p:cNvSpPr txBox="1"/>
          <p:nvPr/>
        </p:nvSpPr>
        <p:spPr>
          <a:xfrm>
            <a:off x="1793574" y="1086890"/>
            <a:ext cx="9939717" cy="3139321"/>
          </a:xfrm>
          <a:prstGeom prst="rect">
            <a:avLst/>
          </a:prstGeom>
          <a:noFill/>
        </p:spPr>
        <p:txBody>
          <a:bodyPr wrap="square" rtlCol="0">
            <a:spAutoFit/>
          </a:bodyPr>
          <a:lstStyle/>
          <a:p>
            <a:r>
              <a:rPr lang="en-US" dirty="0"/>
              <a:t>Using causal tracing, we compare the model’s normal behavior with a version where the subject in the prompt is intentionally corrupted. By restoring individual hidden states to their uncorrupted state, we can observe which internal activations bring back the correct prediction. This reveals that factual knowledge is not scattered randomly across the network, but concentrated in specific mid-layer MLP modules.</a:t>
            </a:r>
          </a:p>
          <a:p>
            <a:r>
              <a:rPr lang="en-US" dirty="0"/>
              <a:t>when the model processes the last token of the subject,  its where these layers show the strongest causal influence on the final answer. This allows us to pinpoint the exact area responsible for recalling a fact. Once this key layer and token position are identified, they become the target for precise editing.</a:t>
            </a:r>
          </a:p>
          <a:p>
            <a:br>
              <a:rPr lang="en-US" dirty="0"/>
            </a:br>
            <a:endParaRPr lang="en-IL" dirty="0"/>
          </a:p>
        </p:txBody>
      </p:sp>
      <p:pic>
        <p:nvPicPr>
          <p:cNvPr id="8" name="Picture 2">
            <a:extLst>
              <a:ext uri="{FF2B5EF4-FFF2-40B4-BE49-F238E27FC236}">
                <a16:creationId xmlns:a16="http://schemas.microsoft.com/office/drawing/2014/main" id="{FD01D3C2-3BCF-4E83-74F4-F6BBEB9C4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8851" y="4108084"/>
            <a:ext cx="8029575" cy="1835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76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59D67-1ED8-15BB-9DE8-3FEC097003A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62B7CB-5FFD-F6DB-E20E-F3EC4DA09B3A}"/>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7D3A5463-A432-30ED-4EF5-B0B441A2DAAE}"/>
              </a:ext>
            </a:extLst>
          </p:cNvPr>
          <p:cNvSpPr txBox="1"/>
          <p:nvPr/>
        </p:nvSpPr>
        <p:spPr>
          <a:xfrm>
            <a:off x="1113576" y="181069"/>
            <a:ext cx="9144000"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Univers Light"/>
                <a:ea typeface="+mn-ea"/>
                <a:cs typeface="+mn-cs"/>
              </a:rPr>
              <a:t>Appendix A - ROME (2)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2" name="TextBox 1">
            <a:extLst>
              <a:ext uri="{FF2B5EF4-FFF2-40B4-BE49-F238E27FC236}">
                <a16:creationId xmlns:a16="http://schemas.microsoft.com/office/drawing/2014/main" id="{99855D98-AC54-4F4B-90BE-8F9B63C99A01}"/>
              </a:ext>
            </a:extLst>
          </p:cNvPr>
          <p:cNvSpPr txBox="1"/>
          <p:nvPr/>
        </p:nvSpPr>
        <p:spPr>
          <a:xfrm>
            <a:off x="1494809" y="1719951"/>
            <a:ext cx="947398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dirty="0">
                <a:ln>
                  <a:noFill/>
                </a:ln>
                <a:solidFill>
                  <a:prstClr val="black"/>
                </a:solidFill>
                <a:effectLst/>
                <a:uLnTx/>
                <a:uFillTx/>
                <a:latin typeface="Univers Light"/>
                <a:ea typeface="+mn-ea"/>
                <a:cs typeface="+mn-cs"/>
              </a:rPr>
            </a:br>
            <a:endParaRPr kumimoji="0" lang="en-IL" sz="18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3" name="TextBox 2">
            <a:extLst>
              <a:ext uri="{FF2B5EF4-FFF2-40B4-BE49-F238E27FC236}">
                <a16:creationId xmlns:a16="http://schemas.microsoft.com/office/drawing/2014/main" id="{0CDF79EA-1428-104E-56B6-07EEA32A3564}"/>
              </a:ext>
            </a:extLst>
          </p:cNvPr>
          <p:cNvSpPr txBox="1"/>
          <p:nvPr/>
        </p:nvSpPr>
        <p:spPr>
          <a:xfrm>
            <a:off x="1934424" y="1240180"/>
            <a:ext cx="8696375" cy="3139321"/>
          </a:xfrm>
          <a:prstGeom prst="rect">
            <a:avLst/>
          </a:prstGeom>
          <a:noFill/>
        </p:spPr>
        <p:txBody>
          <a:bodyPr wrap="square" rtlCol="0">
            <a:spAutoFit/>
          </a:bodyPr>
          <a:lstStyle/>
          <a:p>
            <a:r>
              <a:rPr lang="en-US" dirty="0"/>
              <a:t>After locating the responsible layer, ROME rewrites a factual association by treating the MLP module as a key-value memory: the activation at the subject's final token serves as the "key," and ROME computes a corresponding "value" vector representing the corrected fact. With these two components, it applies a rank-one update to the projection matrix of the selected MLP. This update adds a low-rank term that alters the mapping only along a single direction in parameter space, leaving all orthogonal directions—and therefore almost all existing knowledge—unchanged. Because the intervention is so localized, the model reliably retrieves the new fact while continuing to behave normally for unrelated subjects.</a:t>
            </a:r>
          </a:p>
          <a:p>
            <a:br>
              <a:rPr lang="en-US" dirty="0"/>
            </a:br>
            <a:endParaRPr lang="en-IL" dirty="0"/>
          </a:p>
        </p:txBody>
      </p:sp>
      <p:pic>
        <p:nvPicPr>
          <p:cNvPr id="4098" name="Picture 2">
            <a:extLst>
              <a:ext uri="{FF2B5EF4-FFF2-40B4-BE49-F238E27FC236}">
                <a16:creationId xmlns:a16="http://schemas.microsoft.com/office/drawing/2014/main" id="{FE586830-B78F-47D2-0857-C729005F4F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1270" y="4150783"/>
            <a:ext cx="4009460" cy="1985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6397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B4A7B-A7D4-56A5-2DF8-32139B8B15C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5875080-9665-A84A-04C1-4C400EE271D7}"/>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ACA79B1F-392E-FA60-6F7A-71C14F054A90}"/>
              </a:ext>
            </a:extLst>
          </p:cNvPr>
          <p:cNvSpPr txBox="1"/>
          <p:nvPr/>
        </p:nvSpPr>
        <p:spPr>
          <a:xfrm>
            <a:off x="1113576" y="181069"/>
            <a:ext cx="9144000" cy="1077218"/>
          </a:xfrm>
          <a:prstGeom prst="rect">
            <a:avLst/>
          </a:prstGeom>
          <a:noFill/>
        </p:spPr>
        <p:txBody>
          <a:bodyPr wrap="square" rtlCol="0">
            <a:spAutoFit/>
          </a:bodyPr>
          <a:lstStyle/>
          <a:p>
            <a:pPr lvl="0"/>
            <a:r>
              <a:rPr kumimoji="0" lang="en-US" sz="4400" b="0" i="0" u="none" strike="noStrike" kern="1200" cap="none" spc="0" normalizeH="0" baseline="0" noProof="0" dirty="0">
                <a:ln>
                  <a:noFill/>
                </a:ln>
                <a:solidFill>
                  <a:prstClr val="black"/>
                </a:solidFill>
                <a:effectLst/>
                <a:uLnTx/>
                <a:uFillTx/>
                <a:latin typeface="Univers Light"/>
                <a:ea typeface="+mn-ea"/>
                <a:cs typeface="+mn-cs"/>
              </a:rPr>
              <a:t>Appendix B - </a:t>
            </a:r>
            <a:r>
              <a:rPr lang="en-US" sz="4400" dirty="0">
                <a:solidFill>
                  <a:prstClr val="black"/>
                </a:solidFill>
                <a:latin typeface="Univers Light"/>
              </a:rPr>
              <a:t>MALMEN</a:t>
            </a:r>
            <a:r>
              <a:rPr kumimoji="0" lang="en-US" sz="4400" b="0" i="0" u="none" strike="noStrike" kern="1200" cap="none" spc="0" normalizeH="0" baseline="0" noProof="0" dirty="0">
                <a:ln>
                  <a:noFill/>
                </a:ln>
                <a:solidFill>
                  <a:prstClr val="black"/>
                </a:solidFill>
                <a:effectLst/>
                <a:uLnTx/>
                <a:uFillTx/>
                <a:latin typeface="Univers Light"/>
                <a:ea typeface="+mn-ea"/>
                <a:cs typeface="+mn-cs"/>
              </a:rPr>
              <a:t>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3" name="TextBox 2">
            <a:extLst>
              <a:ext uri="{FF2B5EF4-FFF2-40B4-BE49-F238E27FC236}">
                <a16:creationId xmlns:a16="http://schemas.microsoft.com/office/drawing/2014/main" id="{EE825937-9891-41DF-41D7-8187B48D05A5}"/>
              </a:ext>
            </a:extLst>
          </p:cNvPr>
          <p:cNvSpPr txBox="1"/>
          <p:nvPr/>
        </p:nvSpPr>
        <p:spPr>
          <a:xfrm>
            <a:off x="1511929" y="1258287"/>
            <a:ext cx="10076507" cy="2862322"/>
          </a:xfrm>
          <a:prstGeom prst="rect">
            <a:avLst/>
          </a:prstGeom>
          <a:noFill/>
        </p:spPr>
        <p:txBody>
          <a:bodyPr wrap="square" rtlCol="0">
            <a:spAutoFit/>
          </a:bodyPr>
          <a:lstStyle/>
          <a:p>
            <a:r>
              <a:rPr lang="en-US" dirty="0"/>
              <a:t>MALMEN edits only a small, well-defined part of the model: the second feed-forward layer (FFN-2) inside several late transformer blocks.</a:t>
            </a:r>
          </a:p>
          <a:p>
            <a:r>
              <a:rPr lang="en-US" dirty="0"/>
              <a:t>This layer is known to store factual associations and behaves like a key–value memory — the same insight used by ROME, which performs a single-fact update in one such layer.</a:t>
            </a:r>
          </a:p>
          <a:p>
            <a:r>
              <a:rPr lang="en-US" dirty="0"/>
              <a:t>MALMEN extends this idea by applying a consistent update across multiple late blocks, where semantic knowledge is concentrated.</a:t>
            </a:r>
          </a:p>
          <a:p>
            <a:r>
              <a:rPr lang="en-US" dirty="0"/>
              <a:t>Focusing on FFN-2 keeps the update tightly localized, allowing the model to adjust the specific fact without disturbing its broader linguistic or reasoning abilities.</a:t>
            </a:r>
          </a:p>
          <a:p>
            <a:br>
              <a:rPr lang="en-US" dirty="0"/>
            </a:br>
            <a:endParaRPr lang="en-IL" dirty="0"/>
          </a:p>
        </p:txBody>
      </p:sp>
    </p:spTree>
    <p:extLst>
      <p:ext uri="{BB962C8B-B14F-4D97-AF65-F5344CB8AC3E}">
        <p14:creationId xmlns:p14="http://schemas.microsoft.com/office/powerpoint/2010/main" val="3956558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EFB00-94E3-39A6-8964-18C6A018994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FF5075-8961-BD1D-CE85-D1EF7BA01B67}"/>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en-US"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200" b="1" i="0" u="none" strike="noStrike" kern="1200" cap="none" spc="150" normalizeH="0" baseline="0" noProof="0" dirty="0">
              <a:ln>
                <a:noFill/>
              </a:ln>
              <a:solidFill>
                <a:prstClr val="black"/>
              </a:solidFill>
              <a:effectLst/>
              <a:uLnTx/>
              <a:uFillTx/>
              <a:latin typeface="Univers Light"/>
              <a:ea typeface="+mn-ea"/>
              <a:cs typeface="+mn-cs"/>
            </a:endParaRPr>
          </a:p>
        </p:txBody>
      </p:sp>
      <p:sp>
        <p:nvSpPr>
          <p:cNvPr id="6" name="TextBox 5">
            <a:extLst>
              <a:ext uri="{FF2B5EF4-FFF2-40B4-BE49-F238E27FC236}">
                <a16:creationId xmlns:a16="http://schemas.microsoft.com/office/drawing/2014/main" id="{84DD79BF-228C-43A7-A254-FBD1BFF9B264}"/>
              </a:ext>
            </a:extLst>
          </p:cNvPr>
          <p:cNvSpPr txBox="1"/>
          <p:nvPr/>
        </p:nvSpPr>
        <p:spPr>
          <a:xfrm>
            <a:off x="1113576" y="181069"/>
            <a:ext cx="9144000" cy="1077218"/>
          </a:xfrm>
          <a:prstGeom prst="rect">
            <a:avLst/>
          </a:prstGeom>
          <a:noFill/>
        </p:spPr>
        <p:txBody>
          <a:bodyPr wrap="square" rtlCol="0">
            <a:spAutoFit/>
          </a:bodyPr>
          <a:lstStyle/>
          <a:p>
            <a:pPr lvl="0"/>
            <a:r>
              <a:rPr kumimoji="0" lang="en-US" sz="4400" b="0" i="0" u="none" strike="noStrike" kern="1200" cap="none" spc="0" normalizeH="0" baseline="0" noProof="0" dirty="0">
                <a:ln>
                  <a:noFill/>
                </a:ln>
                <a:solidFill>
                  <a:prstClr val="black"/>
                </a:solidFill>
                <a:effectLst/>
                <a:uLnTx/>
                <a:uFillTx/>
                <a:latin typeface="Univers Light"/>
                <a:ea typeface="+mn-ea"/>
                <a:cs typeface="+mn-cs"/>
              </a:rPr>
              <a:t>Appendix B - </a:t>
            </a:r>
            <a:r>
              <a:rPr lang="en-US" sz="4400" dirty="0">
                <a:solidFill>
                  <a:prstClr val="black"/>
                </a:solidFill>
                <a:latin typeface="Univers Light"/>
              </a:rPr>
              <a:t>MALMEN</a:t>
            </a:r>
            <a:r>
              <a:rPr kumimoji="0" lang="en-US" sz="4400" b="0" i="0" u="none" strike="noStrike" kern="1200" cap="none" spc="0" normalizeH="0" baseline="0" noProof="0" dirty="0">
                <a:ln>
                  <a:noFill/>
                </a:ln>
                <a:solidFill>
                  <a:prstClr val="black"/>
                </a:solidFill>
                <a:effectLst/>
                <a:uLnTx/>
                <a:uFillTx/>
                <a:latin typeface="Univers Light"/>
                <a:ea typeface="+mn-ea"/>
                <a:cs typeface="+mn-cs"/>
              </a:rPr>
              <a:t>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2" name="TextBox 1">
            <a:extLst>
              <a:ext uri="{FF2B5EF4-FFF2-40B4-BE49-F238E27FC236}">
                <a16:creationId xmlns:a16="http://schemas.microsoft.com/office/drawing/2014/main" id="{8C991532-5AF0-8F1C-0E07-7C150A0697D1}"/>
              </a:ext>
            </a:extLst>
          </p:cNvPr>
          <p:cNvSpPr txBox="1"/>
          <p:nvPr/>
        </p:nvSpPr>
        <p:spPr>
          <a:xfrm>
            <a:off x="1494809" y="1719951"/>
            <a:ext cx="947398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dirty="0">
                <a:ln>
                  <a:noFill/>
                </a:ln>
                <a:solidFill>
                  <a:prstClr val="black"/>
                </a:solidFill>
                <a:effectLst/>
                <a:uLnTx/>
                <a:uFillTx/>
                <a:latin typeface="Univers Light"/>
                <a:ea typeface="+mn-ea"/>
                <a:cs typeface="+mn-cs"/>
              </a:rPr>
            </a:br>
            <a:endParaRPr kumimoji="0" lang="en-IL" sz="1800" b="0" i="0" u="none" strike="noStrike" kern="1200" cap="none" spc="0" normalizeH="0" baseline="0" noProof="0" dirty="0">
              <a:ln>
                <a:noFill/>
              </a:ln>
              <a:solidFill>
                <a:prstClr val="black"/>
              </a:solidFill>
              <a:effectLst/>
              <a:uLnTx/>
              <a:uFillTx/>
              <a:latin typeface="Univers Light"/>
              <a:ea typeface="+mn-ea"/>
              <a:cs typeface="+mn-cs"/>
            </a:endParaRPr>
          </a:p>
        </p:txBody>
      </p:sp>
      <p:sp>
        <p:nvSpPr>
          <p:cNvPr id="3" name="TextBox 2">
            <a:extLst>
              <a:ext uri="{FF2B5EF4-FFF2-40B4-BE49-F238E27FC236}">
                <a16:creationId xmlns:a16="http://schemas.microsoft.com/office/drawing/2014/main" id="{C84BB896-7213-09A4-B8E1-99CECAD64189}"/>
              </a:ext>
            </a:extLst>
          </p:cNvPr>
          <p:cNvSpPr txBox="1"/>
          <p:nvPr/>
        </p:nvSpPr>
        <p:spPr>
          <a:xfrm>
            <a:off x="1720158" y="1258287"/>
            <a:ext cx="8977033" cy="3693319"/>
          </a:xfrm>
          <a:prstGeom prst="rect">
            <a:avLst/>
          </a:prstGeom>
          <a:noFill/>
        </p:spPr>
        <p:txBody>
          <a:bodyPr wrap="square" rtlCol="0">
            <a:spAutoFit/>
          </a:bodyPr>
          <a:lstStyle/>
          <a:p>
            <a:r>
              <a:rPr lang="en-US" dirty="0"/>
              <a:t>MALMEN uses a meta-learned hyper-network to turn raw gradients into safe, localized parameter shifts.</a:t>
            </a:r>
          </a:p>
          <a:p>
            <a:r>
              <a:rPr lang="en-US" dirty="0"/>
              <a:t>For each fact to be edited, the LLM produces keys and value-gradients that describe how the model currently represents the incorrect fact.</a:t>
            </a:r>
          </a:p>
          <a:p>
            <a:r>
              <a:rPr lang="en-US" dirty="0"/>
              <a:t>The hyper-network transforms these gradients into small “micro-updates,” one per token, predicting how FFN-2 should change to express the corrected fact.</a:t>
            </a:r>
          </a:p>
          <a:p>
            <a:r>
              <a:rPr lang="en-US" dirty="0"/>
              <a:t>Instead of summing these updates (which leads to cancellation), MALMEN aggregates them using a least-squares solution that produces a single optimal update matrix </a:t>
            </a:r>
          </a:p>
          <a:p>
            <a:r>
              <a:rPr lang="en-US" dirty="0"/>
              <a:t>This unified update is then applied simultaneously to the FFN-2 layer across all selected blocks.</a:t>
            </a:r>
          </a:p>
          <a:p>
            <a:br>
              <a:rPr lang="en-US" dirty="0"/>
            </a:br>
            <a:endParaRPr lang="en-IL" dirty="0"/>
          </a:p>
        </p:txBody>
      </p:sp>
    </p:spTree>
    <p:extLst>
      <p:ext uri="{BB962C8B-B14F-4D97-AF65-F5344CB8AC3E}">
        <p14:creationId xmlns:p14="http://schemas.microsoft.com/office/powerpoint/2010/main" val="4108948939"/>
      </p:ext>
    </p:extLst>
  </p:cSld>
  <p:clrMapOvr>
    <a:masterClrMapping/>
  </p:clrMapOvr>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2.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DB7358-0BCB-4DEB-B717-C1D7CC555F0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{CBE4080B-BD78-41BD-B6A4-6DE110D5EDF4}TF3977e381-cba5-49b1-ba43-b5d865517af907ebbda9_win32-372d4d6ae720</Template>
  <TotalTime>476</TotalTime>
  <Words>2272</Words>
  <Application>Microsoft Office PowerPoint</Application>
  <PresentationFormat>Widescreen</PresentationFormat>
  <Paragraphs>279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Cambria Math</vt:lpstr>
      <vt:lpstr>Tisa Offc Serif Pro</vt:lpstr>
      <vt:lpstr>Univers Light</vt:lpstr>
      <vt:lpstr>Custom</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Aviad Oster</dc:creator>
  <cp:lastModifiedBy>natanel daniel</cp:lastModifiedBy>
  <cp:revision>4</cp:revision>
  <dcterms:created xsi:type="dcterms:W3CDTF">2025-12-02T09:45:18Z</dcterms:created>
  <dcterms:modified xsi:type="dcterms:W3CDTF">2025-12-22T19:07:12Z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